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96"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Heebo" pitchFamily="2" charset="-79"/>
      <p:regular r:id="rId13"/>
    </p:embeddedFont>
    <p:embeddedFont>
      <p:font typeface="Heebo Bold" panose="020B0604020202020204" charset="-79"/>
      <p:regular r:id="rId14"/>
    </p:embeddedFont>
    <p:embeddedFont>
      <p:font typeface="Heebo Light" pitchFamily="2" charset="-79"/>
      <p:regular r:id="rId15"/>
    </p:embeddedFont>
    <p:embeddedFont>
      <p:font typeface="Heebo Medium" pitchFamily="2" charset="-79"/>
      <p:regular r:id="rId16"/>
    </p:embeddedFont>
    <p:embeddedFont>
      <p:font typeface="Heebo SemiBold" panose="020B0604020202020204" charset="-79"/>
      <p:regular r:id="rId17"/>
    </p:embeddedFont>
    <p:embeddedFont>
      <p:font typeface="Montserrat Medium" panose="00000600000000000000" pitchFamily="2" charset="0"/>
      <p:regular r:id="rId18"/>
    </p:embeddedFont>
    <p:embeddedFont>
      <p:font typeface="Montserrat SemiBold" panose="00000700000000000000" pitchFamily="2"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0940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platform: transforming static monthly utility billing into real-time, device-level intelligence and autonomous optimization across the home.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core friction: monthly bills only reveal historical cost after the fact. Householders lack the circuit-level hierarchy required to diagnose and prevent waste.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five-phase closed loop: Configure, Monitor, Analyze, Control, and Verify. The AI Copilot guides the homeowner at each step.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structural anchor hierarchy: utility meter to main supply, down to rooms, smart switch boxes, load channels, and individual devices.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cascading aggregation flow from the brief: AC (1.82 kW), Fan (0.32 kW), Light (0.12 kW), and TV (0.08 kW) sum to 2.34 kW. When TV turns off, the total becomes 2.26 kW and the change propagates to room and house totals.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 the four operational pillars: Monitor, Analyze, AI, and Control, supported by ten dedicated household energy modes.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verified data tally: Utility meter 18.60 kWh vs monitored 17.82 kWh (0.78 kWh unmonitored gap, 95.8% coverage). Show real-time safety overload alerts and dynamic ECO mode shaving.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 the dashboard experience: navigating from whole house to room, switch box, channel, and appliance with natural-language AI insights grounded in real telemetry.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visibility to outcomes: Social, Economic, and Environmental impacts across households, apartments, hostels, schools, small offices, commercial and smart buildings.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Conclude with the forward-looking vision: utility-to-device intelligence moving from home automation into grid flexibility, dynamic tariffs, and verified decarbonization.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D2957-F3C1-C432-AFED-F6223BECE7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336A86C-5EA0-A096-2CA5-BF6E46049A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D773FE6-A705-0C2F-1829-CA1AC7D495ED}"/>
              </a:ext>
            </a:extLst>
          </p:cNvPr>
          <p:cNvSpPr>
            <a:spLocks noGrp="1"/>
          </p:cNvSpPr>
          <p:nvPr>
            <p:ph type="dt" sz="half" idx="10"/>
          </p:nvPr>
        </p:nvSpPr>
        <p:spPr/>
        <p:txBody>
          <a:bodyPr/>
          <a:lstStyle/>
          <a:p>
            <a:fld id="{BA46312D-B7E4-44A9-93E0-FB95A542ACF1}" type="datetimeFigureOut">
              <a:rPr lang="en-IN" smtClean="0"/>
              <a:t>03-10-2026</a:t>
            </a:fld>
            <a:endParaRPr lang="en-IN"/>
          </a:p>
        </p:txBody>
      </p:sp>
      <p:sp>
        <p:nvSpPr>
          <p:cNvPr id="5" name="Footer Placeholder 4">
            <a:extLst>
              <a:ext uri="{FF2B5EF4-FFF2-40B4-BE49-F238E27FC236}">
                <a16:creationId xmlns:a16="http://schemas.microsoft.com/office/drawing/2014/main" id="{9C842324-C6A9-89AC-D6AD-3A7B3D851B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3C0634-062F-0280-A311-A519A2F50A26}"/>
              </a:ext>
            </a:extLst>
          </p:cNvPr>
          <p:cNvSpPr>
            <a:spLocks noGrp="1"/>
          </p:cNvSpPr>
          <p:nvPr>
            <p:ph type="sldNum" sz="quarter" idx="12"/>
          </p:nvPr>
        </p:nvSpPr>
        <p:spPr/>
        <p:txBody>
          <a:bodyPr/>
          <a:lstStyle/>
          <a:p>
            <a:fld id="{B20BB0BE-D9AF-4C58-A4B5-D2EAB1767D95}" type="slidenum">
              <a:rPr lang="en-IN" smtClean="0"/>
              <a:t>‹#›</a:t>
            </a:fld>
            <a:endParaRPr lang="en-IN"/>
          </a:p>
        </p:txBody>
      </p:sp>
    </p:spTree>
    <p:extLst>
      <p:ext uri="{BB962C8B-B14F-4D97-AF65-F5344CB8AC3E}">
        <p14:creationId xmlns:p14="http://schemas.microsoft.com/office/powerpoint/2010/main" val="355941332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8B60F-C0D6-4011-91F1-E06D2645418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D293DAF-9D24-563E-B3E3-1D93EA5256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8AB2E2-627B-B256-A3C7-6336AA337A61}"/>
              </a:ext>
            </a:extLst>
          </p:cNvPr>
          <p:cNvSpPr>
            <a:spLocks noGrp="1"/>
          </p:cNvSpPr>
          <p:nvPr>
            <p:ph type="dt" sz="half" idx="10"/>
          </p:nvPr>
        </p:nvSpPr>
        <p:spPr/>
        <p:txBody>
          <a:bodyPr/>
          <a:lstStyle/>
          <a:p>
            <a:fld id="{BA46312D-B7E4-44A9-93E0-FB95A542ACF1}" type="datetimeFigureOut">
              <a:rPr lang="en-IN" smtClean="0"/>
              <a:t>03-10-2026</a:t>
            </a:fld>
            <a:endParaRPr lang="en-IN"/>
          </a:p>
        </p:txBody>
      </p:sp>
      <p:sp>
        <p:nvSpPr>
          <p:cNvPr id="5" name="Footer Placeholder 4">
            <a:extLst>
              <a:ext uri="{FF2B5EF4-FFF2-40B4-BE49-F238E27FC236}">
                <a16:creationId xmlns:a16="http://schemas.microsoft.com/office/drawing/2014/main" id="{2AE4FCC3-5E81-EF33-0D7B-77D6AB5254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A52131-FDF4-D37F-6273-97F75D3DFEBB}"/>
              </a:ext>
            </a:extLst>
          </p:cNvPr>
          <p:cNvSpPr>
            <a:spLocks noGrp="1"/>
          </p:cNvSpPr>
          <p:nvPr>
            <p:ph type="sldNum" sz="quarter" idx="12"/>
          </p:nvPr>
        </p:nvSpPr>
        <p:spPr/>
        <p:txBody>
          <a:bodyPr/>
          <a:lstStyle/>
          <a:p>
            <a:fld id="{B20BB0BE-D9AF-4C58-A4B5-D2EAB1767D95}" type="slidenum">
              <a:rPr lang="en-IN" smtClean="0"/>
              <a:t>‹#›</a:t>
            </a:fld>
            <a:endParaRPr lang="en-IN"/>
          </a:p>
        </p:txBody>
      </p:sp>
    </p:spTree>
    <p:extLst>
      <p:ext uri="{BB962C8B-B14F-4D97-AF65-F5344CB8AC3E}">
        <p14:creationId xmlns:p14="http://schemas.microsoft.com/office/powerpoint/2010/main" val="386202439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536F5-E479-B99F-5B16-04A96AF58E8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36F568C-E19B-AE8D-0F58-7CBDFAEA25F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A4B5D6-0F07-9C39-7CAF-DBB64125E4B8}"/>
              </a:ext>
            </a:extLst>
          </p:cNvPr>
          <p:cNvSpPr>
            <a:spLocks noGrp="1"/>
          </p:cNvSpPr>
          <p:nvPr>
            <p:ph type="dt" sz="half" idx="10"/>
          </p:nvPr>
        </p:nvSpPr>
        <p:spPr/>
        <p:txBody>
          <a:bodyPr/>
          <a:lstStyle/>
          <a:p>
            <a:fld id="{BA46312D-B7E4-44A9-93E0-FB95A542ACF1}" type="datetimeFigureOut">
              <a:rPr lang="en-IN" smtClean="0"/>
              <a:t>03-10-2026</a:t>
            </a:fld>
            <a:endParaRPr lang="en-IN"/>
          </a:p>
        </p:txBody>
      </p:sp>
      <p:sp>
        <p:nvSpPr>
          <p:cNvPr id="5" name="Footer Placeholder 4">
            <a:extLst>
              <a:ext uri="{FF2B5EF4-FFF2-40B4-BE49-F238E27FC236}">
                <a16:creationId xmlns:a16="http://schemas.microsoft.com/office/drawing/2014/main" id="{F4298606-B0F9-B865-A931-8DEACC59EA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BC9C20-92F1-A22F-AB55-F2843BD57EB0}"/>
              </a:ext>
            </a:extLst>
          </p:cNvPr>
          <p:cNvSpPr>
            <a:spLocks noGrp="1"/>
          </p:cNvSpPr>
          <p:nvPr>
            <p:ph type="sldNum" sz="quarter" idx="12"/>
          </p:nvPr>
        </p:nvSpPr>
        <p:spPr/>
        <p:txBody>
          <a:bodyPr/>
          <a:lstStyle/>
          <a:p>
            <a:fld id="{B20BB0BE-D9AF-4C58-A4B5-D2EAB1767D95}" type="slidenum">
              <a:rPr lang="en-IN" smtClean="0"/>
              <a:t>‹#›</a:t>
            </a:fld>
            <a:endParaRPr lang="en-IN"/>
          </a:p>
        </p:txBody>
      </p:sp>
    </p:spTree>
    <p:extLst>
      <p:ext uri="{BB962C8B-B14F-4D97-AF65-F5344CB8AC3E}">
        <p14:creationId xmlns:p14="http://schemas.microsoft.com/office/powerpoint/2010/main" val="129657519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D8736-9081-ED35-DDF9-AC783C64CD2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9A9029B-116F-B998-484F-DA2C91A3823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28128C9-2ED1-E079-79B1-7852501EF1B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CFD682-CFC7-D294-18F8-A54D6EF83DC6}"/>
              </a:ext>
            </a:extLst>
          </p:cNvPr>
          <p:cNvSpPr>
            <a:spLocks noGrp="1"/>
          </p:cNvSpPr>
          <p:nvPr>
            <p:ph type="dt" sz="half" idx="10"/>
          </p:nvPr>
        </p:nvSpPr>
        <p:spPr/>
        <p:txBody>
          <a:bodyPr/>
          <a:lstStyle/>
          <a:p>
            <a:fld id="{BA46312D-B7E4-44A9-93E0-FB95A542ACF1}" type="datetimeFigureOut">
              <a:rPr lang="en-IN" smtClean="0"/>
              <a:t>03-10-2026</a:t>
            </a:fld>
            <a:endParaRPr lang="en-IN"/>
          </a:p>
        </p:txBody>
      </p:sp>
      <p:sp>
        <p:nvSpPr>
          <p:cNvPr id="6" name="Footer Placeholder 5">
            <a:extLst>
              <a:ext uri="{FF2B5EF4-FFF2-40B4-BE49-F238E27FC236}">
                <a16:creationId xmlns:a16="http://schemas.microsoft.com/office/drawing/2014/main" id="{B7FFEC24-A7F7-C721-F9A0-4F575AF236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21EACE-F4E7-8ABD-6029-3380C1FAF705}"/>
              </a:ext>
            </a:extLst>
          </p:cNvPr>
          <p:cNvSpPr>
            <a:spLocks noGrp="1"/>
          </p:cNvSpPr>
          <p:nvPr>
            <p:ph type="sldNum" sz="quarter" idx="12"/>
          </p:nvPr>
        </p:nvSpPr>
        <p:spPr/>
        <p:txBody>
          <a:bodyPr/>
          <a:lstStyle/>
          <a:p>
            <a:fld id="{B20BB0BE-D9AF-4C58-A4B5-D2EAB1767D95}" type="slidenum">
              <a:rPr lang="en-IN" smtClean="0"/>
              <a:t>‹#›</a:t>
            </a:fld>
            <a:endParaRPr lang="en-IN"/>
          </a:p>
        </p:txBody>
      </p:sp>
    </p:spTree>
    <p:extLst>
      <p:ext uri="{BB962C8B-B14F-4D97-AF65-F5344CB8AC3E}">
        <p14:creationId xmlns:p14="http://schemas.microsoft.com/office/powerpoint/2010/main" val="392555060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4E9AB-73EA-8D28-3BD3-0EC13EE11AE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4127F0-1C46-D14D-0ADF-870BC1EB84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3E97404-6360-E671-3541-9FA34185DE1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3DDAF21-AB8E-9271-95E3-4826E921E3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688704C-E749-B41B-6908-C508D15C03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33F4989-8C1B-8DFE-3E1F-762DDBC57250}"/>
              </a:ext>
            </a:extLst>
          </p:cNvPr>
          <p:cNvSpPr>
            <a:spLocks noGrp="1"/>
          </p:cNvSpPr>
          <p:nvPr>
            <p:ph type="dt" sz="half" idx="10"/>
          </p:nvPr>
        </p:nvSpPr>
        <p:spPr/>
        <p:txBody>
          <a:bodyPr/>
          <a:lstStyle/>
          <a:p>
            <a:fld id="{BA46312D-B7E4-44A9-93E0-FB95A542ACF1}" type="datetimeFigureOut">
              <a:rPr lang="en-IN" smtClean="0"/>
              <a:t>03-10-2026</a:t>
            </a:fld>
            <a:endParaRPr lang="en-IN"/>
          </a:p>
        </p:txBody>
      </p:sp>
      <p:sp>
        <p:nvSpPr>
          <p:cNvPr id="8" name="Footer Placeholder 7">
            <a:extLst>
              <a:ext uri="{FF2B5EF4-FFF2-40B4-BE49-F238E27FC236}">
                <a16:creationId xmlns:a16="http://schemas.microsoft.com/office/drawing/2014/main" id="{0015C3E0-274E-0874-E613-D5258F7A83A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41D24D6-C6CD-32B5-B7F7-62FA0E909A44}"/>
              </a:ext>
            </a:extLst>
          </p:cNvPr>
          <p:cNvSpPr>
            <a:spLocks noGrp="1"/>
          </p:cNvSpPr>
          <p:nvPr>
            <p:ph type="sldNum" sz="quarter" idx="12"/>
          </p:nvPr>
        </p:nvSpPr>
        <p:spPr/>
        <p:txBody>
          <a:bodyPr/>
          <a:lstStyle/>
          <a:p>
            <a:fld id="{B20BB0BE-D9AF-4C58-A4B5-D2EAB1767D95}" type="slidenum">
              <a:rPr lang="en-IN" smtClean="0"/>
              <a:t>‹#›</a:t>
            </a:fld>
            <a:endParaRPr lang="en-IN"/>
          </a:p>
        </p:txBody>
      </p:sp>
    </p:spTree>
    <p:extLst>
      <p:ext uri="{BB962C8B-B14F-4D97-AF65-F5344CB8AC3E}">
        <p14:creationId xmlns:p14="http://schemas.microsoft.com/office/powerpoint/2010/main" val="3690341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66DDB-0C7F-ABBB-80AC-9AA9256A0DC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74263DF-3A01-B03D-D867-673D7320ABB6}"/>
              </a:ext>
            </a:extLst>
          </p:cNvPr>
          <p:cNvSpPr>
            <a:spLocks noGrp="1"/>
          </p:cNvSpPr>
          <p:nvPr>
            <p:ph type="dt" sz="half" idx="10"/>
          </p:nvPr>
        </p:nvSpPr>
        <p:spPr/>
        <p:txBody>
          <a:bodyPr/>
          <a:lstStyle/>
          <a:p>
            <a:fld id="{BA46312D-B7E4-44A9-93E0-FB95A542ACF1}" type="datetimeFigureOut">
              <a:rPr lang="en-IN" smtClean="0"/>
              <a:t>03-10-2026</a:t>
            </a:fld>
            <a:endParaRPr lang="en-IN"/>
          </a:p>
        </p:txBody>
      </p:sp>
      <p:sp>
        <p:nvSpPr>
          <p:cNvPr id="4" name="Footer Placeholder 3">
            <a:extLst>
              <a:ext uri="{FF2B5EF4-FFF2-40B4-BE49-F238E27FC236}">
                <a16:creationId xmlns:a16="http://schemas.microsoft.com/office/drawing/2014/main" id="{B43C8AAE-3597-0DB9-D518-3710DD51B44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C9C2A84-0C63-229C-C569-C4EC4722CB62}"/>
              </a:ext>
            </a:extLst>
          </p:cNvPr>
          <p:cNvSpPr>
            <a:spLocks noGrp="1"/>
          </p:cNvSpPr>
          <p:nvPr>
            <p:ph type="sldNum" sz="quarter" idx="12"/>
          </p:nvPr>
        </p:nvSpPr>
        <p:spPr/>
        <p:txBody>
          <a:bodyPr/>
          <a:lstStyle/>
          <a:p>
            <a:fld id="{B20BB0BE-D9AF-4C58-A4B5-D2EAB1767D95}" type="slidenum">
              <a:rPr lang="en-IN" smtClean="0"/>
              <a:t>‹#›</a:t>
            </a:fld>
            <a:endParaRPr lang="en-IN"/>
          </a:p>
        </p:txBody>
      </p:sp>
    </p:spTree>
    <p:extLst>
      <p:ext uri="{BB962C8B-B14F-4D97-AF65-F5344CB8AC3E}">
        <p14:creationId xmlns:p14="http://schemas.microsoft.com/office/powerpoint/2010/main" val="249274469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21EEF1-0ABC-684B-3F5D-35D6CC900CA3}"/>
              </a:ext>
            </a:extLst>
          </p:cNvPr>
          <p:cNvSpPr>
            <a:spLocks noGrp="1"/>
          </p:cNvSpPr>
          <p:nvPr>
            <p:ph type="dt" sz="half" idx="10"/>
          </p:nvPr>
        </p:nvSpPr>
        <p:spPr/>
        <p:txBody>
          <a:bodyPr/>
          <a:lstStyle/>
          <a:p>
            <a:fld id="{BA46312D-B7E4-44A9-93E0-FB95A542ACF1}" type="datetimeFigureOut">
              <a:rPr lang="en-IN" smtClean="0"/>
              <a:t>03-10-2026</a:t>
            </a:fld>
            <a:endParaRPr lang="en-IN"/>
          </a:p>
        </p:txBody>
      </p:sp>
      <p:sp>
        <p:nvSpPr>
          <p:cNvPr id="3" name="Footer Placeholder 2">
            <a:extLst>
              <a:ext uri="{FF2B5EF4-FFF2-40B4-BE49-F238E27FC236}">
                <a16:creationId xmlns:a16="http://schemas.microsoft.com/office/drawing/2014/main" id="{4CA72B58-47DC-D0B1-A2A0-E6DCBE1351E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0377BD5-C951-1ADE-F089-C9997EEAA192}"/>
              </a:ext>
            </a:extLst>
          </p:cNvPr>
          <p:cNvSpPr>
            <a:spLocks noGrp="1"/>
          </p:cNvSpPr>
          <p:nvPr>
            <p:ph type="sldNum" sz="quarter" idx="12"/>
          </p:nvPr>
        </p:nvSpPr>
        <p:spPr/>
        <p:txBody>
          <a:bodyPr/>
          <a:lstStyle/>
          <a:p>
            <a:fld id="{B20BB0BE-D9AF-4C58-A4B5-D2EAB1767D95}" type="slidenum">
              <a:rPr lang="en-IN" smtClean="0"/>
              <a:t>‹#›</a:t>
            </a:fld>
            <a:endParaRPr lang="en-IN"/>
          </a:p>
        </p:txBody>
      </p:sp>
    </p:spTree>
    <p:extLst>
      <p:ext uri="{BB962C8B-B14F-4D97-AF65-F5344CB8AC3E}">
        <p14:creationId xmlns:p14="http://schemas.microsoft.com/office/powerpoint/2010/main" val="264424558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B4B87-7C67-D00B-13BE-2EDF8B6323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F972DC8-D563-F3A1-FC83-4699C0A3763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3D8200A-37A1-D060-0F33-3F30442FCF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6DA911-9483-F4C0-4BDC-59E33044FCC9}"/>
              </a:ext>
            </a:extLst>
          </p:cNvPr>
          <p:cNvSpPr>
            <a:spLocks noGrp="1"/>
          </p:cNvSpPr>
          <p:nvPr>
            <p:ph type="dt" sz="half" idx="10"/>
          </p:nvPr>
        </p:nvSpPr>
        <p:spPr/>
        <p:txBody>
          <a:bodyPr/>
          <a:lstStyle/>
          <a:p>
            <a:fld id="{BA46312D-B7E4-44A9-93E0-FB95A542ACF1}" type="datetimeFigureOut">
              <a:rPr lang="en-IN" smtClean="0"/>
              <a:t>03-10-2026</a:t>
            </a:fld>
            <a:endParaRPr lang="en-IN"/>
          </a:p>
        </p:txBody>
      </p:sp>
      <p:sp>
        <p:nvSpPr>
          <p:cNvPr id="6" name="Footer Placeholder 5">
            <a:extLst>
              <a:ext uri="{FF2B5EF4-FFF2-40B4-BE49-F238E27FC236}">
                <a16:creationId xmlns:a16="http://schemas.microsoft.com/office/drawing/2014/main" id="{F6156515-F994-F8FC-40F7-BFFEBC6EB3C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49BE661-1A43-0239-EE9A-DE39968EE9C7}"/>
              </a:ext>
            </a:extLst>
          </p:cNvPr>
          <p:cNvSpPr>
            <a:spLocks noGrp="1"/>
          </p:cNvSpPr>
          <p:nvPr>
            <p:ph type="sldNum" sz="quarter" idx="12"/>
          </p:nvPr>
        </p:nvSpPr>
        <p:spPr/>
        <p:txBody>
          <a:bodyPr/>
          <a:lstStyle/>
          <a:p>
            <a:fld id="{B20BB0BE-D9AF-4C58-A4B5-D2EAB1767D95}" type="slidenum">
              <a:rPr lang="en-IN" smtClean="0"/>
              <a:t>‹#›</a:t>
            </a:fld>
            <a:endParaRPr lang="en-IN"/>
          </a:p>
        </p:txBody>
      </p:sp>
    </p:spTree>
    <p:extLst>
      <p:ext uri="{BB962C8B-B14F-4D97-AF65-F5344CB8AC3E}">
        <p14:creationId xmlns:p14="http://schemas.microsoft.com/office/powerpoint/2010/main" val="335315829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31FA7-C936-B093-DED1-28D62249E4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B5DACE8-7C37-1EE3-354D-B391CD1E893B}"/>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32C9590-C7CF-98BC-D5BA-99A938E3B4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5C734A-5D0C-F05D-DDAF-2088B8083160}"/>
              </a:ext>
            </a:extLst>
          </p:cNvPr>
          <p:cNvSpPr>
            <a:spLocks noGrp="1"/>
          </p:cNvSpPr>
          <p:nvPr>
            <p:ph type="dt" sz="half" idx="10"/>
          </p:nvPr>
        </p:nvSpPr>
        <p:spPr/>
        <p:txBody>
          <a:bodyPr/>
          <a:lstStyle/>
          <a:p>
            <a:fld id="{BA46312D-B7E4-44A9-93E0-FB95A542ACF1}" type="datetimeFigureOut">
              <a:rPr lang="en-IN" smtClean="0"/>
              <a:t>03-10-2026</a:t>
            </a:fld>
            <a:endParaRPr lang="en-IN"/>
          </a:p>
        </p:txBody>
      </p:sp>
      <p:sp>
        <p:nvSpPr>
          <p:cNvPr id="6" name="Footer Placeholder 5">
            <a:extLst>
              <a:ext uri="{FF2B5EF4-FFF2-40B4-BE49-F238E27FC236}">
                <a16:creationId xmlns:a16="http://schemas.microsoft.com/office/drawing/2014/main" id="{23AF2B30-4B90-59F3-0B58-01E69FA534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FE488B4-9ED2-C984-DD45-56BE10681BBF}"/>
              </a:ext>
            </a:extLst>
          </p:cNvPr>
          <p:cNvSpPr>
            <a:spLocks noGrp="1"/>
          </p:cNvSpPr>
          <p:nvPr>
            <p:ph type="sldNum" sz="quarter" idx="12"/>
          </p:nvPr>
        </p:nvSpPr>
        <p:spPr/>
        <p:txBody>
          <a:bodyPr/>
          <a:lstStyle/>
          <a:p>
            <a:fld id="{B20BB0BE-D9AF-4C58-A4B5-D2EAB1767D95}" type="slidenum">
              <a:rPr lang="en-IN" smtClean="0"/>
              <a:t>‹#›</a:t>
            </a:fld>
            <a:endParaRPr lang="en-IN"/>
          </a:p>
        </p:txBody>
      </p:sp>
    </p:spTree>
    <p:extLst>
      <p:ext uri="{BB962C8B-B14F-4D97-AF65-F5344CB8AC3E}">
        <p14:creationId xmlns:p14="http://schemas.microsoft.com/office/powerpoint/2010/main" val="76614100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30482-1CF5-A0D4-42BD-A578826BCE3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3C569D7-32D4-1797-37C7-EF80A7A1171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10F27A8-05C5-FED8-5300-CA468F8B2DC7}"/>
              </a:ext>
            </a:extLst>
          </p:cNvPr>
          <p:cNvSpPr>
            <a:spLocks noGrp="1"/>
          </p:cNvSpPr>
          <p:nvPr>
            <p:ph type="dt" sz="half" idx="10"/>
          </p:nvPr>
        </p:nvSpPr>
        <p:spPr/>
        <p:txBody>
          <a:bodyPr/>
          <a:lstStyle/>
          <a:p>
            <a:fld id="{BA46312D-B7E4-44A9-93E0-FB95A542ACF1}" type="datetimeFigureOut">
              <a:rPr lang="en-IN" smtClean="0"/>
              <a:t>03-10-2026</a:t>
            </a:fld>
            <a:endParaRPr lang="en-IN"/>
          </a:p>
        </p:txBody>
      </p:sp>
      <p:sp>
        <p:nvSpPr>
          <p:cNvPr id="5" name="Footer Placeholder 4">
            <a:extLst>
              <a:ext uri="{FF2B5EF4-FFF2-40B4-BE49-F238E27FC236}">
                <a16:creationId xmlns:a16="http://schemas.microsoft.com/office/drawing/2014/main" id="{2C15A77B-093C-4170-13C1-20EDF6BF10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3A32F1-CC39-24C6-012A-F08C3D8BE91A}"/>
              </a:ext>
            </a:extLst>
          </p:cNvPr>
          <p:cNvSpPr>
            <a:spLocks noGrp="1"/>
          </p:cNvSpPr>
          <p:nvPr>
            <p:ph type="sldNum" sz="quarter" idx="12"/>
          </p:nvPr>
        </p:nvSpPr>
        <p:spPr/>
        <p:txBody>
          <a:bodyPr/>
          <a:lstStyle/>
          <a:p>
            <a:fld id="{B20BB0BE-D9AF-4C58-A4B5-D2EAB1767D95}" type="slidenum">
              <a:rPr lang="en-IN" smtClean="0"/>
              <a:t>‹#›</a:t>
            </a:fld>
            <a:endParaRPr lang="en-IN"/>
          </a:p>
        </p:txBody>
      </p:sp>
    </p:spTree>
    <p:extLst>
      <p:ext uri="{BB962C8B-B14F-4D97-AF65-F5344CB8AC3E}">
        <p14:creationId xmlns:p14="http://schemas.microsoft.com/office/powerpoint/2010/main" val="311479585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7F9EBE-31CD-A2A3-2D24-24AA35F129A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5E65BB5-FAA9-16BE-1FF5-144A2B2A06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C0D003-F312-23F0-9C51-471C0826C439}"/>
              </a:ext>
            </a:extLst>
          </p:cNvPr>
          <p:cNvSpPr>
            <a:spLocks noGrp="1"/>
          </p:cNvSpPr>
          <p:nvPr>
            <p:ph type="dt" sz="half" idx="10"/>
          </p:nvPr>
        </p:nvSpPr>
        <p:spPr/>
        <p:txBody>
          <a:bodyPr/>
          <a:lstStyle/>
          <a:p>
            <a:fld id="{BA46312D-B7E4-44A9-93E0-FB95A542ACF1}" type="datetimeFigureOut">
              <a:rPr lang="en-IN" smtClean="0"/>
              <a:t>03-10-2026</a:t>
            </a:fld>
            <a:endParaRPr lang="en-IN"/>
          </a:p>
        </p:txBody>
      </p:sp>
      <p:sp>
        <p:nvSpPr>
          <p:cNvPr id="5" name="Footer Placeholder 4">
            <a:extLst>
              <a:ext uri="{FF2B5EF4-FFF2-40B4-BE49-F238E27FC236}">
                <a16:creationId xmlns:a16="http://schemas.microsoft.com/office/drawing/2014/main" id="{6F14753B-2B79-27DC-BEA8-8885A190D1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9AD0EF-88C4-0AB8-755C-D3EEE23ED264}"/>
              </a:ext>
            </a:extLst>
          </p:cNvPr>
          <p:cNvSpPr>
            <a:spLocks noGrp="1"/>
          </p:cNvSpPr>
          <p:nvPr>
            <p:ph type="sldNum" sz="quarter" idx="12"/>
          </p:nvPr>
        </p:nvSpPr>
        <p:spPr/>
        <p:txBody>
          <a:bodyPr/>
          <a:lstStyle/>
          <a:p>
            <a:fld id="{B20BB0BE-D9AF-4C58-A4B5-D2EAB1767D95}" type="slidenum">
              <a:rPr lang="en-IN" smtClean="0"/>
              <a:t>‹#›</a:t>
            </a:fld>
            <a:endParaRPr lang="en-IN"/>
          </a:p>
        </p:txBody>
      </p:sp>
    </p:spTree>
    <p:extLst>
      <p:ext uri="{BB962C8B-B14F-4D97-AF65-F5344CB8AC3E}">
        <p14:creationId xmlns:p14="http://schemas.microsoft.com/office/powerpoint/2010/main" val="67064853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master 1">
    <p:bg>
      <p:bgPr>
        <a:solidFill>
          <a:srgbClr val="120A0E"/>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5113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master 2">
    <p:bg>
      <p:bgPr>
        <a:solidFill>
          <a:srgbClr val="120A0E"/>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96595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CB4568-D10E-D84C-6B76-263D33918C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D909571-C9AB-F7BD-645A-6EDC14B619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1A91C2-0C94-33F8-F333-83C463A382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A46312D-B7E4-44A9-93E0-FB95A542ACF1}" type="datetimeFigureOut">
              <a:rPr lang="en-IN" smtClean="0"/>
              <a:t>03-10-2026</a:t>
            </a:fld>
            <a:endParaRPr lang="en-IN"/>
          </a:p>
        </p:txBody>
      </p:sp>
      <p:sp>
        <p:nvSpPr>
          <p:cNvPr id="5" name="Footer Placeholder 4">
            <a:extLst>
              <a:ext uri="{FF2B5EF4-FFF2-40B4-BE49-F238E27FC236}">
                <a16:creationId xmlns:a16="http://schemas.microsoft.com/office/drawing/2014/main" id="{1853B2BE-87E5-CB41-4F92-488D12053B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2FB96EA-7E14-E180-D69B-18AF959CEA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20BB0BE-D9AF-4C58-A4B5-D2EAB1767D95}" type="slidenum">
              <a:rPr lang="en-IN" smtClean="0"/>
              <a:t>‹#›</a:t>
            </a:fld>
            <a:endParaRPr lang="en-IN"/>
          </a:p>
        </p:txBody>
      </p:sp>
    </p:spTree>
    <p:extLst>
      <p:ext uri="{BB962C8B-B14F-4D97-AF65-F5344CB8AC3E}">
        <p14:creationId xmlns:p14="http://schemas.microsoft.com/office/powerpoint/2010/main" val="209327330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19.jpe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2C0513F-919D-A2EA-6F9D-321CC57B1F02}"/>
              </a:ext>
            </a:extLst>
          </p:cNvPr>
          <p:cNvPicPr>
            <a:picLocks noChangeAspect="1"/>
          </p:cNvPicPr>
          <p:nvPr/>
        </p:nvPicPr>
        <p:blipFill>
          <a:blip r:embed="rId3"/>
          <a:stretch>
            <a:fillRect/>
          </a:stretch>
        </p:blipFill>
        <p:spPr>
          <a:xfrm>
            <a:off x="0" y="-366771"/>
            <a:ext cx="12403623" cy="7591541"/>
          </a:xfrm>
          <a:prstGeom prst="rect">
            <a:avLst/>
          </a:prstGeom>
        </p:spPr>
      </p:pic>
      <p:sp>
        <p:nvSpPr>
          <p:cNvPr id="2" name="Shape 0"/>
          <p:cNvSpPr/>
          <p:nvPr/>
        </p:nvSpPr>
        <p:spPr>
          <a:xfrm>
            <a:off x="711182" y="3048000"/>
            <a:ext cx="7111822" cy="3821113"/>
          </a:xfrm>
          <a:prstGeom prst="roundRect">
            <a:avLst>
              <a:gd name="adj" fmla="val 848"/>
            </a:avLst>
          </a:prstGeom>
          <a:solidFill>
            <a:srgbClr val="0C0E12">
              <a:alpha val="82000"/>
            </a:srgbClr>
          </a:solidFill>
          <a:ln/>
        </p:spPr>
      </p:sp>
      <p:sp>
        <p:nvSpPr>
          <p:cNvPr id="3" name="Text 1"/>
          <p:cNvSpPr/>
          <p:nvPr/>
        </p:nvSpPr>
        <p:spPr>
          <a:xfrm>
            <a:off x="939776" y="3276600"/>
            <a:ext cx="6654634" cy="1072753"/>
          </a:xfrm>
          <a:prstGeom prst="rect">
            <a:avLst/>
          </a:prstGeom>
          <a:noFill/>
          <a:ln/>
        </p:spPr>
        <p:txBody>
          <a:bodyPr wrap="square" lIns="0" tIns="0" rIns="0" bIns="0" rtlCol="0" anchor="t">
            <a:normAutofit lnSpcReduction="10000"/>
          </a:bodyPr>
          <a:lstStyle/>
          <a:p>
            <a:pPr marL="0" indent="0" algn="l">
              <a:lnSpc>
                <a:spcPct val="80000"/>
              </a:lnSpc>
              <a:buNone/>
            </a:pPr>
            <a:r>
              <a:rPr lang="en-US" sz="4400" kern="100" spc="-154" dirty="0">
                <a:solidFill>
                  <a:srgbClr val="FFFFFF"/>
                </a:solidFill>
                <a:latin typeface="Montserrat SemiBold" pitchFamily="34" charset="0"/>
                <a:ea typeface="Montserrat SemiBold" pitchFamily="34" charset="-122"/>
                <a:cs typeface="Montserrat SemiBold" pitchFamily="34" charset="-120"/>
              </a:rPr>
              <a:t>From utility meter to device intelligence</a:t>
            </a:r>
            <a:endParaRPr lang="en-US" sz="4400" dirty="0"/>
          </a:p>
        </p:txBody>
      </p:sp>
      <p:sp>
        <p:nvSpPr>
          <p:cNvPr id="4" name="Text 2"/>
          <p:cNvSpPr/>
          <p:nvPr/>
        </p:nvSpPr>
        <p:spPr>
          <a:xfrm>
            <a:off x="939776" y="4539853"/>
            <a:ext cx="6654634" cy="690761"/>
          </a:xfrm>
          <a:prstGeom prst="rect">
            <a:avLst/>
          </a:prstGeom>
          <a:noFill/>
          <a:ln/>
        </p:spPr>
        <p:txBody>
          <a:bodyPr wrap="square" lIns="0" tIns="0" rIns="0" bIns="0" rtlCol="0" anchor="t">
            <a:normAutofit/>
          </a:bodyPr>
          <a:lstStyle/>
          <a:p>
            <a:pPr marL="0" indent="0" algn="l">
              <a:lnSpc>
                <a:spcPct val="113000"/>
              </a:lnSpc>
              <a:buNone/>
            </a:pPr>
            <a:r>
              <a:rPr lang="en-US" sz="2000" kern="100" spc="-50" dirty="0">
                <a:solidFill>
                  <a:srgbClr val="FFFFFF"/>
                </a:solidFill>
                <a:latin typeface="Montserrat Medium" pitchFamily="34" charset="0"/>
                <a:ea typeface="Montserrat Medium" pitchFamily="34" charset="-122"/>
                <a:cs typeface="Montserrat Medium" pitchFamily="34" charset="-120"/>
              </a:rPr>
              <a:t>Sustainable Energy Consumption &amp; Smart Home Optimization Dashboard</a:t>
            </a:r>
            <a:endParaRPr lang="en-US" sz="2000" dirty="0"/>
          </a:p>
        </p:txBody>
      </p:sp>
      <p:sp>
        <p:nvSpPr>
          <p:cNvPr id="5" name="Shape 3"/>
          <p:cNvSpPr/>
          <p:nvPr/>
        </p:nvSpPr>
        <p:spPr>
          <a:xfrm>
            <a:off x="939776" y="5509915"/>
            <a:ext cx="3327218" cy="31651"/>
          </a:xfrm>
          <a:prstGeom prst="roundRect">
            <a:avLst>
              <a:gd name="adj" fmla="val 49998"/>
            </a:avLst>
          </a:prstGeom>
          <a:solidFill>
            <a:srgbClr val="3D2A31"/>
          </a:solidFill>
          <a:ln/>
        </p:spPr>
      </p:sp>
      <p:sp>
        <p:nvSpPr>
          <p:cNvPr id="6" name="Shape 4"/>
          <p:cNvSpPr/>
          <p:nvPr/>
        </p:nvSpPr>
        <p:spPr>
          <a:xfrm>
            <a:off x="939776" y="5859264"/>
            <a:ext cx="991369" cy="336649"/>
          </a:xfrm>
          <a:prstGeom prst="roundRect">
            <a:avLst>
              <a:gd name="adj" fmla="val 3395"/>
            </a:avLst>
          </a:prstGeom>
          <a:noFill/>
          <a:ln w="6350">
            <a:solidFill>
              <a:srgbClr val="FF8761"/>
            </a:solidFill>
            <a:prstDash val="solid"/>
          </a:ln>
        </p:spPr>
      </p:sp>
      <p:sp>
        <p:nvSpPr>
          <p:cNvPr id="7" name="Text 5"/>
          <p:cNvSpPr/>
          <p:nvPr/>
        </p:nvSpPr>
        <p:spPr>
          <a:xfrm>
            <a:off x="1069254" y="5923955"/>
            <a:ext cx="1341999" cy="207268"/>
          </a:xfrm>
          <a:prstGeom prst="rect">
            <a:avLst/>
          </a:prstGeom>
          <a:noFill/>
          <a:ln/>
        </p:spPr>
        <p:txBody>
          <a:bodyPr wrap="none" lIns="0" tIns="0" rIns="0" bIns="0" rtlCol="0" anchor="t"/>
          <a:lstStyle/>
          <a:p>
            <a:pPr marL="0" indent="0" algn="l">
              <a:lnSpc>
                <a:spcPct val="100000"/>
              </a:lnSpc>
              <a:buNone/>
            </a:pPr>
            <a:r>
              <a:rPr lang="en-US" sz="1350" kern="100" spc="109" dirty="0">
                <a:solidFill>
                  <a:srgbClr val="FF8761"/>
                </a:solidFill>
                <a:latin typeface="Heebo Medium" pitchFamily="34" charset="0"/>
                <a:ea typeface="Heebo Medium" pitchFamily="34" charset="-122"/>
                <a:cs typeface="Heebo Medium" pitchFamily="34" charset="-120"/>
              </a:rPr>
              <a:t>AI &amp; IOT</a:t>
            </a:r>
            <a:endParaRPr lang="en-US" sz="1350" dirty="0"/>
          </a:p>
        </p:txBody>
      </p:sp>
      <p:sp>
        <p:nvSpPr>
          <p:cNvPr id="8" name="Shape 6"/>
          <p:cNvSpPr/>
          <p:nvPr/>
        </p:nvSpPr>
        <p:spPr>
          <a:xfrm>
            <a:off x="2039093" y="5859264"/>
            <a:ext cx="2241891" cy="336649"/>
          </a:xfrm>
          <a:prstGeom prst="roundRect">
            <a:avLst>
              <a:gd name="adj" fmla="val 3395"/>
            </a:avLst>
          </a:prstGeom>
          <a:noFill/>
          <a:ln w="6350">
            <a:solidFill>
              <a:srgbClr val="FF8761"/>
            </a:solidFill>
            <a:prstDash val="solid"/>
          </a:ln>
        </p:spPr>
      </p:sp>
      <p:sp>
        <p:nvSpPr>
          <p:cNvPr id="9" name="Text 7"/>
          <p:cNvSpPr/>
          <p:nvPr/>
        </p:nvSpPr>
        <p:spPr>
          <a:xfrm>
            <a:off x="2168570" y="5923955"/>
            <a:ext cx="2592521" cy="207268"/>
          </a:xfrm>
          <a:prstGeom prst="rect">
            <a:avLst/>
          </a:prstGeom>
          <a:noFill/>
          <a:ln/>
        </p:spPr>
        <p:txBody>
          <a:bodyPr wrap="none" lIns="0" tIns="0" rIns="0" bIns="0" rtlCol="0" anchor="t"/>
          <a:lstStyle/>
          <a:p>
            <a:pPr marL="0" indent="0" algn="l">
              <a:lnSpc>
                <a:spcPct val="100000"/>
              </a:lnSpc>
              <a:buNone/>
            </a:pPr>
            <a:r>
              <a:rPr lang="en-US" sz="1350" kern="100" spc="109" dirty="0">
                <a:solidFill>
                  <a:srgbClr val="FF8761"/>
                </a:solidFill>
                <a:latin typeface="Heebo Medium" pitchFamily="34" charset="0"/>
                <a:ea typeface="Heebo Medium" pitchFamily="34" charset="-122"/>
                <a:cs typeface="Heebo Medium" pitchFamily="34" charset="-120"/>
              </a:rPr>
              <a:t>ENERGY MONITORING</a:t>
            </a:r>
            <a:endParaRPr lang="en-US" sz="1350" dirty="0"/>
          </a:p>
        </p:txBody>
      </p:sp>
      <p:sp>
        <p:nvSpPr>
          <p:cNvPr id="10" name="Shape 8"/>
          <p:cNvSpPr/>
          <p:nvPr/>
        </p:nvSpPr>
        <p:spPr>
          <a:xfrm>
            <a:off x="4388931" y="5859264"/>
            <a:ext cx="1831334" cy="336649"/>
          </a:xfrm>
          <a:prstGeom prst="roundRect">
            <a:avLst>
              <a:gd name="adj" fmla="val 3395"/>
            </a:avLst>
          </a:prstGeom>
          <a:noFill/>
          <a:ln w="6350">
            <a:solidFill>
              <a:srgbClr val="FF8761"/>
            </a:solidFill>
            <a:prstDash val="solid"/>
          </a:ln>
        </p:spPr>
      </p:sp>
      <p:sp>
        <p:nvSpPr>
          <p:cNvPr id="11" name="Text 9"/>
          <p:cNvSpPr/>
          <p:nvPr/>
        </p:nvSpPr>
        <p:spPr>
          <a:xfrm>
            <a:off x="4518408" y="5923955"/>
            <a:ext cx="2181964" cy="207268"/>
          </a:xfrm>
          <a:prstGeom prst="rect">
            <a:avLst/>
          </a:prstGeom>
          <a:noFill/>
          <a:ln/>
        </p:spPr>
        <p:txBody>
          <a:bodyPr wrap="none" lIns="0" tIns="0" rIns="0" bIns="0" rtlCol="0" anchor="t"/>
          <a:lstStyle/>
          <a:p>
            <a:pPr marL="0" indent="0" algn="l">
              <a:lnSpc>
                <a:spcPct val="100000"/>
              </a:lnSpc>
              <a:buNone/>
            </a:pPr>
            <a:r>
              <a:rPr lang="en-US" sz="1350" kern="100" spc="109" dirty="0">
                <a:solidFill>
                  <a:srgbClr val="FF8761"/>
                </a:solidFill>
                <a:latin typeface="Heebo Medium" pitchFamily="34" charset="0"/>
                <a:ea typeface="Heebo Medium" pitchFamily="34" charset="-122"/>
                <a:cs typeface="Heebo Medium" pitchFamily="34" charset="-120"/>
              </a:rPr>
              <a:t>SMART CONTROL</a:t>
            </a:r>
            <a:endParaRPr lang="en-US" sz="1350" dirty="0"/>
          </a:p>
        </p:txBody>
      </p:sp>
      <p:sp>
        <p:nvSpPr>
          <p:cNvPr id="12" name="Shape 10"/>
          <p:cNvSpPr/>
          <p:nvPr/>
        </p:nvSpPr>
        <p:spPr>
          <a:xfrm>
            <a:off x="939776" y="6303863"/>
            <a:ext cx="1607204" cy="336649"/>
          </a:xfrm>
          <a:prstGeom prst="roundRect">
            <a:avLst>
              <a:gd name="adj" fmla="val 3395"/>
            </a:avLst>
          </a:prstGeom>
          <a:noFill/>
          <a:ln w="6350">
            <a:solidFill>
              <a:srgbClr val="FF8761"/>
            </a:solidFill>
            <a:prstDash val="solid"/>
          </a:ln>
        </p:spPr>
      </p:sp>
      <p:sp>
        <p:nvSpPr>
          <p:cNvPr id="13" name="Text 11"/>
          <p:cNvSpPr/>
          <p:nvPr/>
        </p:nvSpPr>
        <p:spPr>
          <a:xfrm>
            <a:off x="1069254" y="6368554"/>
            <a:ext cx="1957835" cy="207268"/>
          </a:xfrm>
          <a:prstGeom prst="rect">
            <a:avLst/>
          </a:prstGeom>
          <a:noFill/>
          <a:ln/>
        </p:spPr>
        <p:txBody>
          <a:bodyPr wrap="none" lIns="0" tIns="0" rIns="0" bIns="0" rtlCol="0" anchor="t"/>
          <a:lstStyle/>
          <a:p>
            <a:pPr marL="0" indent="0" algn="l">
              <a:lnSpc>
                <a:spcPct val="100000"/>
              </a:lnSpc>
              <a:buNone/>
            </a:pPr>
            <a:r>
              <a:rPr lang="en-US" sz="1350" kern="100" spc="109" dirty="0">
                <a:solidFill>
                  <a:srgbClr val="FF8761"/>
                </a:solidFill>
                <a:latin typeface="Heebo Medium" pitchFamily="34" charset="0"/>
                <a:ea typeface="Heebo Medium" pitchFamily="34" charset="-122"/>
                <a:cs typeface="Heebo Medium" pitchFamily="34" charset="-120"/>
              </a:rPr>
              <a:t>OPTIMIZATION</a:t>
            </a:r>
            <a:endParaRPr lang="en-US" sz="1350" dirty="0"/>
          </a:p>
        </p:txBody>
      </p:sp>
      <p:sp>
        <p:nvSpPr>
          <p:cNvPr id="14" name="Shape 12"/>
          <p:cNvSpPr/>
          <p:nvPr/>
        </p:nvSpPr>
        <p:spPr>
          <a:xfrm>
            <a:off x="2654928" y="6303863"/>
            <a:ext cx="1772796" cy="336649"/>
          </a:xfrm>
          <a:prstGeom prst="roundRect">
            <a:avLst>
              <a:gd name="adj" fmla="val 3395"/>
            </a:avLst>
          </a:prstGeom>
          <a:noFill/>
          <a:ln w="6350">
            <a:solidFill>
              <a:srgbClr val="FF8761"/>
            </a:solidFill>
            <a:prstDash val="solid"/>
          </a:ln>
        </p:spPr>
      </p:sp>
      <p:sp>
        <p:nvSpPr>
          <p:cNvPr id="15" name="Text 13"/>
          <p:cNvSpPr/>
          <p:nvPr/>
        </p:nvSpPr>
        <p:spPr>
          <a:xfrm>
            <a:off x="2784405" y="6368554"/>
            <a:ext cx="2123427" cy="207268"/>
          </a:xfrm>
          <a:prstGeom prst="rect">
            <a:avLst/>
          </a:prstGeom>
          <a:noFill/>
          <a:ln/>
        </p:spPr>
        <p:txBody>
          <a:bodyPr wrap="none" lIns="0" tIns="0" rIns="0" bIns="0" rtlCol="0" anchor="t"/>
          <a:lstStyle/>
          <a:p>
            <a:pPr marL="0" indent="0" algn="l">
              <a:lnSpc>
                <a:spcPct val="100000"/>
              </a:lnSpc>
              <a:buNone/>
            </a:pPr>
            <a:r>
              <a:rPr lang="en-US" sz="1350" kern="100" spc="109" dirty="0">
                <a:solidFill>
                  <a:srgbClr val="FF8761"/>
                </a:solidFill>
                <a:latin typeface="Heebo Medium" pitchFamily="34" charset="0"/>
                <a:ea typeface="Heebo Medium" pitchFamily="34" charset="-122"/>
                <a:cs typeface="Heebo Medium" pitchFamily="34" charset="-120"/>
              </a:rPr>
              <a:t>SUSTAINABILITY</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876678" cy="6858000"/>
          </a:xfrm>
          <a:prstGeom prst="rect">
            <a:avLst/>
          </a:prstGeom>
        </p:spPr>
      </p:pic>
      <p:sp>
        <p:nvSpPr>
          <p:cNvPr id="3" name="Text 0"/>
          <p:cNvSpPr/>
          <p:nvPr/>
        </p:nvSpPr>
        <p:spPr>
          <a:xfrm>
            <a:off x="5410065" y="457200"/>
            <a:ext cx="6781630" cy="182860"/>
          </a:xfrm>
          <a:prstGeom prst="rect">
            <a:avLst/>
          </a:prstGeom>
          <a:noFill/>
          <a:ln/>
        </p:spPr>
        <p:txBody>
          <a:bodyPr wrap="none" lIns="0" tIns="0" rIns="0" bIns="0" rtlCol="0" anchor="t"/>
          <a:lstStyle/>
          <a:p>
            <a:pPr marL="0" indent="0" algn="l">
              <a:lnSpc>
                <a:spcPct val="100000"/>
              </a:lnSpc>
              <a:buNone/>
            </a:pPr>
            <a:r>
              <a:rPr lang="en-US" sz="1200" kern="100" spc="96" dirty="0">
                <a:solidFill>
                  <a:srgbClr val="C4B0B2"/>
                </a:solidFill>
                <a:latin typeface="Heebo Medium" pitchFamily="34" charset="0"/>
                <a:ea typeface="Heebo Medium" pitchFamily="34" charset="-122"/>
                <a:cs typeface="Heebo Medium" pitchFamily="34" charset="-120"/>
              </a:rPr>
              <a:t>THE VISIBILITY PROBLEM</a:t>
            </a:r>
            <a:endParaRPr lang="en-US" sz="1200" dirty="0"/>
          </a:p>
        </p:txBody>
      </p:sp>
      <p:sp>
        <p:nvSpPr>
          <p:cNvPr id="4" name="Text 1"/>
          <p:cNvSpPr/>
          <p:nvPr/>
        </p:nvSpPr>
        <p:spPr>
          <a:xfrm>
            <a:off x="5410065" y="725785"/>
            <a:ext cx="6248244" cy="915392"/>
          </a:xfrm>
          <a:prstGeom prst="rect">
            <a:avLst/>
          </a:prstGeom>
          <a:noFill/>
          <a:ln/>
        </p:spPr>
        <p:txBody>
          <a:bodyPr wrap="square" lIns="0" tIns="0" rIns="0" bIns="0" rtlCol="0" anchor="t">
            <a:normAutofit/>
          </a:bodyPr>
          <a:lstStyle/>
          <a:p>
            <a:pPr marL="0" indent="0" algn="l">
              <a:lnSpc>
                <a:spcPct val="88000"/>
              </a:lnSpc>
              <a:buNone/>
            </a:pPr>
            <a:r>
              <a:rPr lang="en-US" sz="3400" kern="100" spc="-85" dirty="0">
                <a:solidFill>
                  <a:srgbClr val="FBF3F0"/>
                </a:solidFill>
                <a:latin typeface="Montserrat SemiBold" pitchFamily="34" charset="0"/>
                <a:ea typeface="Montserrat SemiBold" pitchFamily="34" charset="-122"/>
                <a:cs typeface="Montserrat SemiBold" pitchFamily="34" charset="-120"/>
              </a:rPr>
              <a:t>The bill shows the cost, not the cause</a:t>
            </a:r>
            <a:endParaRPr lang="en-US" sz="3400" dirty="0"/>
          </a:p>
        </p:txBody>
      </p:sp>
      <p:sp>
        <p:nvSpPr>
          <p:cNvPr id="5" name="Shape 2"/>
          <p:cNvSpPr/>
          <p:nvPr/>
        </p:nvSpPr>
        <p:spPr>
          <a:xfrm>
            <a:off x="5410065" y="1980803"/>
            <a:ext cx="6248244" cy="31651"/>
          </a:xfrm>
          <a:prstGeom prst="roundRect">
            <a:avLst>
              <a:gd name="adj" fmla="val 49998"/>
            </a:avLst>
          </a:prstGeom>
          <a:solidFill>
            <a:srgbClr val="3D2A31"/>
          </a:solidFill>
          <a:ln/>
        </p:spPr>
      </p:sp>
      <p:sp>
        <p:nvSpPr>
          <p:cNvPr id="6" name="Text 3"/>
          <p:cNvSpPr/>
          <p:nvPr/>
        </p:nvSpPr>
        <p:spPr>
          <a:xfrm>
            <a:off x="5410065" y="2330152"/>
            <a:ext cx="6248244" cy="515541"/>
          </a:xfrm>
          <a:prstGeom prst="rect">
            <a:avLst/>
          </a:prstGeom>
          <a:noFill/>
          <a:ln/>
        </p:spPr>
        <p:txBody>
          <a:bodyPr wrap="square" lIns="0" tIns="0" rIns="0" bIns="0" rtlCol="0" anchor="t">
            <a:normAutofit/>
          </a:bodyPr>
          <a:lstStyle/>
          <a:p>
            <a:pPr marL="0" indent="0" algn="l">
              <a:lnSpc>
                <a:spcPct val="117000"/>
              </a:lnSpc>
              <a:buNone/>
            </a:pPr>
            <a:r>
              <a:rPr lang="en-US" sz="1450" dirty="0">
                <a:solidFill>
                  <a:srgbClr val="E6D9D8"/>
                </a:solidFill>
                <a:latin typeface="Heebo Light" pitchFamily="34" charset="0"/>
                <a:ea typeface="Heebo Light" pitchFamily="34" charset="-122"/>
                <a:cs typeface="Heebo Light" pitchFamily="34" charset="-120"/>
              </a:rPr>
              <a:t>Households receive a monthly total without granular visibility. Without room- and device-level breakdown, decisions stay purely reactive.</a:t>
            </a:r>
            <a:endParaRPr lang="en-US" sz="1450" dirty="0"/>
          </a:p>
        </p:txBody>
      </p:sp>
      <p:pic>
        <p:nvPicPr>
          <p:cNvPr id="7" name="Image 1" descr="preencoded.png"/>
          <p:cNvPicPr>
            <a:picLocks noChangeAspect="1"/>
          </p:cNvPicPr>
          <p:nvPr/>
        </p:nvPicPr>
        <p:blipFill>
          <a:blip r:embed="rId4"/>
          <a:stretch>
            <a:fillRect/>
          </a:stretch>
        </p:blipFill>
        <p:spPr>
          <a:xfrm>
            <a:off x="5410065" y="3036193"/>
            <a:ext cx="6248244" cy="839887"/>
          </a:xfrm>
          <a:prstGeom prst="rect">
            <a:avLst/>
          </a:prstGeom>
        </p:spPr>
      </p:pic>
      <p:pic>
        <p:nvPicPr>
          <p:cNvPr id="8" name="Image 2" descr="preencoded.png"/>
          <p:cNvPicPr>
            <a:picLocks noChangeAspect="1"/>
          </p:cNvPicPr>
          <p:nvPr/>
        </p:nvPicPr>
        <p:blipFill>
          <a:blip r:embed="rId5"/>
          <a:stretch>
            <a:fillRect/>
          </a:stretch>
        </p:blipFill>
        <p:spPr>
          <a:xfrm>
            <a:off x="5600560" y="3062486"/>
            <a:ext cx="431789" cy="431800"/>
          </a:xfrm>
          <a:prstGeom prst="rect">
            <a:avLst/>
          </a:prstGeom>
        </p:spPr>
      </p:pic>
      <p:sp>
        <p:nvSpPr>
          <p:cNvPr id="9" name="Text 4"/>
          <p:cNvSpPr/>
          <p:nvPr/>
        </p:nvSpPr>
        <p:spPr>
          <a:xfrm>
            <a:off x="6204985" y="3150493"/>
            <a:ext cx="5262828" cy="328116"/>
          </a:xfrm>
          <a:prstGeom prst="rect">
            <a:avLst/>
          </a:prstGeom>
          <a:noFill/>
          <a:ln/>
        </p:spPr>
        <p:txBody>
          <a:bodyPr wrap="none" lIns="0" tIns="0" rIns="0" bIns="0" rtlCol="0" anchor="t"/>
          <a:lstStyle/>
          <a:p>
            <a:pPr marL="0" indent="0" algn="l">
              <a:lnSpc>
                <a:spcPct val="113000"/>
              </a:lnSpc>
              <a:buNone/>
            </a:pPr>
            <a:r>
              <a:rPr lang="en-US" sz="1900" kern="100" spc="-47" dirty="0">
                <a:solidFill>
                  <a:srgbClr val="E6D9D8"/>
                </a:solidFill>
                <a:latin typeface="Montserrat Medium" pitchFamily="34" charset="0"/>
                <a:ea typeface="Montserrat Medium" pitchFamily="34" charset="-122"/>
                <a:cs typeface="Montserrat Medium" pitchFamily="34" charset="-120"/>
              </a:rPr>
              <a:t>Unseen standby loads</a:t>
            </a:r>
            <a:endParaRPr lang="en-US" sz="1900" dirty="0"/>
          </a:p>
        </p:txBody>
      </p:sp>
      <p:sp>
        <p:nvSpPr>
          <p:cNvPr id="10" name="Text 5"/>
          <p:cNvSpPr/>
          <p:nvPr/>
        </p:nvSpPr>
        <p:spPr>
          <a:xfrm>
            <a:off x="6204985" y="3504009"/>
            <a:ext cx="5453323" cy="257770"/>
          </a:xfrm>
          <a:prstGeom prst="rect">
            <a:avLst/>
          </a:prstGeom>
          <a:noFill/>
          <a:ln/>
        </p:spPr>
        <p:txBody>
          <a:bodyPr wrap="none" lIns="0" tIns="0" rIns="0" bIns="0" rtlCol="0" anchor="t"/>
          <a:lstStyle/>
          <a:p>
            <a:pPr marL="0" indent="0" algn="l">
              <a:lnSpc>
                <a:spcPct val="117000"/>
              </a:lnSpc>
              <a:buNone/>
            </a:pPr>
            <a:r>
              <a:rPr lang="en-US" sz="1450" dirty="0">
                <a:solidFill>
                  <a:srgbClr val="E6D9D8"/>
                </a:solidFill>
                <a:latin typeface="Heebo Light" pitchFamily="34" charset="0"/>
                <a:ea typeface="Heebo Light" pitchFamily="34" charset="-122"/>
                <a:cs typeface="Heebo Light" pitchFamily="34" charset="-120"/>
              </a:rPr>
              <a:t>Phantom draws and forgotten appliances run unmeasured 24/7.</a:t>
            </a:r>
            <a:endParaRPr lang="en-US" sz="1450" dirty="0"/>
          </a:p>
        </p:txBody>
      </p:sp>
      <p:pic>
        <p:nvPicPr>
          <p:cNvPr id="11" name="Image 3" descr="preencoded.png"/>
          <p:cNvPicPr>
            <a:picLocks noChangeAspect="1"/>
          </p:cNvPicPr>
          <p:nvPr/>
        </p:nvPicPr>
        <p:blipFill>
          <a:blip r:embed="rId6"/>
          <a:stretch>
            <a:fillRect/>
          </a:stretch>
        </p:blipFill>
        <p:spPr>
          <a:xfrm>
            <a:off x="5410065" y="4028480"/>
            <a:ext cx="6248244" cy="1097657"/>
          </a:xfrm>
          <a:prstGeom prst="rect">
            <a:avLst/>
          </a:prstGeom>
        </p:spPr>
      </p:pic>
      <p:pic>
        <p:nvPicPr>
          <p:cNvPr id="12" name="Image 4" descr="preencoded.png"/>
          <p:cNvPicPr>
            <a:picLocks noChangeAspect="1"/>
          </p:cNvPicPr>
          <p:nvPr/>
        </p:nvPicPr>
        <p:blipFill>
          <a:blip r:embed="rId7"/>
          <a:stretch>
            <a:fillRect/>
          </a:stretch>
        </p:blipFill>
        <p:spPr>
          <a:xfrm>
            <a:off x="5600560" y="4054773"/>
            <a:ext cx="431789" cy="431800"/>
          </a:xfrm>
          <a:prstGeom prst="rect">
            <a:avLst/>
          </a:prstGeom>
        </p:spPr>
      </p:pic>
      <p:sp>
        <p:nvSpPr>
          <p:cNvPr id="13" name="Text 6"/>
          <p:cNvSpPr/>
          <p:nvPr/>
        </p:nvSpPr>
        <p:spPr>
          <a:xfrm>
            <a:off x="6204985" y="4142780"/>
            <a:ext cx="5262828" cy="328116"/>
          </a:xfrm>
          <a:prstGeom prst="rect">
            <a:avLst/>
          </a:prstGeom>
          <a:noFill/>
          <a:ln/>
        </p:spPr>
        <p:txBody>
          <a:bodyPr wrap="none" lIns="0" tIns="0" rIns="0" bIns="0" rtlCol="0" anchor="t"/>
          <a:lstStyle/>
          <a:p>
            <a:pPr marL="0" indent="0" algn="l">
              <a:lnSpc>
                <a:spcPct val="113000"/>
              </a:lnSpc>
              <a:buNone/>
            </a:pPr>
            <a:r>
              <a:rPr lang="en-US" sz="1900" kern="100" spc="-47" dirty="0">
                <a:solidFill>
                  <a:srgbClr val="E6D9D8"/>
                </a:solidFill>
                <a:latin typeface="Montserrat Medium" pitchFamily="34" charset="0"/>
                <a:ea typeface="Montserrat Medium" pitchFamily="34" charset="-122"/>
                <a:cs typeface="Montserrat Medium" pitchFamily="34" charset="-120"/>
              </a:rPr>
              <a:t>Unpredictable peak spikes</a:t>
            </a:r>
            <a:endParaRPr lang="en-US" sz="1900" dirty="0"/>
          </a:p>
        </p:txBody>
      </p:sp>
      <p:sp>
        <p:nvSpPr>
          <p:cNvPr id="14" name="Text 7"/>
          <p:cNvSpPr/>
          <p:nvPr/>
        </p:nvSpPr>
        <p:spPr>
          <a:xfrm>
            <a:off x="6204985" y="4496296"/>
            <a:ext cx="5262828" cy="515541"/>
          </a:xfrm>
          <a:prstGeom prst="rect">
            <a:avLst/>
          </a:prstGeom>
          <a:noFill/>
          <a:ln/>
        </p:spPr>
        <p:txBody>
          <a:bodyPr wrap="square" lIns="0" tIns="0" rIns="0" bIns="0" rtlCol="0" anchor="t">
            <a:normAutofit/>
          </a:bodyPr>
          <a:lstStyle/>
          <a:p>
            <a:pPr marL="0" indent="0" algn="l">
              <a:lnSpc>
                <a:spcPct val="117000"/>
              </a:lnSpc>
              <a:buNone/>
            </a:pPr>
            <a:r>
              <a:rPr lang="en-US" sz="1450" dirty="0">
                <a:solidFill>
                  <a:srgbClr val="E6D9D8"/>
                </a:solidFill>
                <a:latin typeface="Heebo Light" pitchFamily="34" charset="0"/>
                <a:ea typeface="Heebo Light" pitchFamily="34" charset="-122"/>
                <a:cs typeface="Heebo Light" pitchFamily="34" charset="-120"/>
              </a:rPr>
              <a:t>Simultaneous heavy appliance draws trigger punitive demand tariffs.</a:t>
            </a:r>
            <a:endParaRPr lang="en-US" sz="1450" dirty="0"/>
          </a:p>
        </p:txBody>
      </p:sp>
      <p:pic>
        <p:nvPicPr>
          <p:cNvPr id="15" name="Image 5" descr="preencoded.png"/>
          <p:cNvPicPr>
            <a:picLocks noChangeAspect="1"/>
          </p:cNvPicPr>
          <p:nvPr/>
        </p:nvPicPr>
        <p:blipFill>
          <a:blip r:embed="rId8"/>
          <a:stretch>
            <a:fillRect/>
          </a:stretch>
        </p:blipFill>
        <p:spPr>
          <a:xfrm>
            <a:off x="5410065" y="5278537"/>
            <a:ext cx="6248244" cy="1097657"/>
          </a:xfrm>
          <a:prstGeom prst="rect">
            <a:avLst/>
          </a:prstGeom>
        </p:spPr>
      </p:pic>
      <p:pic>
        <p:nvPicPr>
          <p:cNvPr id="16" name="Image 6" descr="preencoded.png"/>
          <p:cNvPicPr>
            <a:picLocks noChangeAspect="1"/>
          </p:cNvPicPr>
          <p:nvPr/>
        </p:nvPicPr>
        <p:blipFill>
          <a:blip r:embed="rId9"/>
          <a:stretch>
            <a:fillRect/>
          </a:stretch>
        </p:blipFill>
        <p:spPr>
          <a:xfrm>
            <a:off x="5600560" y="5304830"/>
            <a:ext cx="431789" cy="431800"/>
          </a:xfrm>
          <a:prstGeom prst="rect">
            <a:avLst/>
          </a:prstGeom>
        </p:spPr>
      </p:pic>
      <p:sp>
        <p:nvSpPr>
          <p:cNvPr id="17" name="Text 8"/>
          <p:cNvSpPr/>
          <p:nvPr/>
        </p:nvSpPr>
        <p:spPr>
          <a:xfrm>
            <a:off x="6204985" y="5392837"/>
            <a:ext cx="5262828" cy="328116"/>
          </a:xfrm>
          <a:prstGeom prst="rect">
            <a:avLst/>
          </a:prstGeom>
          <a:noFill/>
          <a:ln/>
        </p:spPr>
        <p:txBody>
          <a:bodyPr wrap="none" lIns="0" tIns="0" rIns="0" bIns="0" rtlCol="0" anchor="t"/>
          <a:lstStyle/>
          <a:p>
            <a:pPr marL="0" indent="0" algn="l">
              <a:lnSpc>
                <a:spcPct val="113000"/>
              </a:lnSpc>
              <a:buNone/>
            </a:pPr>
            <a:r>
              <a:rPr lang="en-US" sz="1900" kern="100" spc="-47" dirty="0">
                <a:solidFill>
                  <a:srgbClr val="E6D9D8"/>
                </a:solidFill>
                <a:latin typeface="Montserrat Medium" pitchFamily="34" charset="0"/>
                <a:ea typeface="Montserrat Medium" pitchFamily="34" charset="-122"/>
                <a:cs typeface="Montserrat Medium" pitchFamily="34" charset="-120"/>
              </a:rPr>
              <a:t>Missing telemetry hierarchy</a:t>
            </a:r>
            <a:endParaRPr lang="en-US" sz="1900" dirty="0"/>
          </a:p>
        </p:txBody>
      </p:sp>
      <p:sp>
        <p:nvSpPr>
          <p:cNvPr id="18" name="Text 9"/>
          <p:cNvSpPr/>
          <p:nvPr/>
        </p:nvSpPr>
        <p:spPr>
          <a:xfrm>
            <a:off x="6204985" y="5746353"/>
            <a:ext cx="5262828" cy="515541"/>
          </a:xfrm>
          <a:prstGeom prst="rect">
            <a:avLst/>
          </a:prstGeom>
          <a:noFill/>
          <a:ln/>
        </p:spPr>
        <p:txBody>
          <a:bodyPr wrap="square" lIns="0" tIns="0" rIns="0" bIns="0" rtlCol="0" anchor="t">
            <a:normAutofit/>
          </a:bodyPr>
          <a:lstStyle/>
          <a:p>
            <a:pPr marL="0" indent="0" algn="l">
              <a:lnSpc>
                <a:spcPct val="117000"/>
              </a:lnSpc>
              <a:buNone/>
            </a:pPr>
            <a:r>
              <a:rPr lang="en-US" sz="1450" dirty="0">
                <a:solidFill>
                  <a:srgbClr val="E6D9D8"/>
                </a:solidFill>
                <a:latin typeface="Heebo Light" pitchFamily="34" charset="0"/>
                <a:ea typeface="Heebo Light" pitchFamily="34" charset="-122"/>
                <a:cs typeface="Heebo Light" pitchFamily="34" charset="-120"/>
              </a:rPr>
              <a:t>Total kWh tells you what you owe, never which switch box or device caused it.</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09600"/>
            <a:ext cx="11582110" cy="182860"/>
          </a:xfrm>
          <a:prstGeom prst="rect">
            <a:avLst/>
          </a:prstGeom>
          <a:noFill/>
          <a:ln/>
        </p:spPr>
        <p:txBody>
          <a:bodyPr wrap="none" lIns="0" tIns="0" rIns="0" bIns="0" rtlCol="0" anchor="t"/>
          <a:lstStyle/>
          <a:p>
            <a:pPr marL="0" indent="0" algn="l">
              <a:lnSpc>
                <a:spcPct val="100000"/>
              </a:lnSpc>
              <a:buNone/>
            </a:pPr>
            <a:r>
              <a:rPr lang="en-US" sz="1200" kern="100" spc="96" dirty="0">
                <a:solidFill>
                  <a:srgbClr val="C4B0B2"/>
                </a:solidFill>
                <a:latin typeface="Heebo Medium" pitchFamily="34" charset="0"/>
                <a:ea typeface="Heebo Medium" pitchFamily="34" charset="-122"/>
                <a:cs typeface="Heebo Medium" pitchFamily="34" charset="-120"/>
              </a:rPr>
              <a:t>SYSTEM ARCHITECTURE</a:t>
            </a:r>
            <a:endParaRPr lang="en-US" sz="1200" dirty="0"/>
          </a:p>
        </p:txBody>
      </p:sp>
      <p:sp>
        <p:nvSpPr>
          <p:cNvPr id="3" name="Text 1"/>
          <p:cNvSpPr/>
          <p:nvPr/>
        </p:nvSpPr>
        <p:spPr>
          <a:xfrm>
            <a:off x="609585" y="878185"/>
            <a:ext cx="10972526" cy="457696"/>
          </a:xfrm>
          <a:prstGeom prst="rect">
            <a:avLst/>
          </a:prstGeom>
          <a:noFill/>
          <a:ln/>
        </p:spPr>
        <p:txBody>
          <a:bodyPr wrap="none" lIns="0" tIns="0" rIns="0" bIns="0" rtlCol="0" anchor="t"/>
          <a:lstStyle/>
          <a:p>
            <a:pPr marL="0" indent="0" algn="l">
              <a:lnSpc>
                <a:spcPct val="88000"/>
              </a:lnSpc>
              <a:buNone/>
            </a:pPr>
            <a:r>
              <a:rPr lang="en-US" sz="3400" kern="100" spc="-85" dirty="0">
                <a:solidFill>
                  <a:srgbClr val="FBF3F0"/>
                </a:solidFill>
                <a:latin typeface="Montserrat SemiBold" pitchFamily="34" charset="0"/>
                <a:ea typeface="Montserrat SemiBold" pitchFamily="34" charset="-122"/>
                <a:cs typeface="Montserrat SemiBold" pitchFamily="34" charset="-120"/>
              </a:rPr>
              <a:t>One platform turns energy data into action</a:t>
            </a:r>
            <a:endParaRPr lang="en-US" sz="3400" dirty="0"/>
          </a:p>
        </p:txBody>
      </p:sp>
      <p:sp>
        <p:nvSpPr>
          <p:cNvPr id="4" name="Text 2"/>
          <p:cNvSpPr/>
          <p:nvPr/>
        </p:nvSpPr>
        <p:spPr>
          <a:xfrm>
            <a:off x="609585" y="1526381"/>
            <a:ext cx="10972526" cy="345380"/>
          </a:xfrm>
          <a:prstGeom prst="rect">
            <a:avLst/>
          </a:prstGeom>
          <a:noFill/>
          <a:ln/>
        </p:spPr>
        <p:txBody>
          <a:bodyPr wrap="none" lIns="0" tIns="0" rIns="0" bIns="0" rtlCol="0" anchor="t"/>
          <a:lstStyle/>
          <a:p>
            <a:pPr marL="0" indent="0" algn="l">
              <a:lnSpc>
                <a:spcPct val="113000"/>
              </a:lnSpc>
              <a:buNone/>
            </a:pPr>
            <a:r>
              <a:rPr lang="en-US" sz="2000" kern="100" spc="-50" dirty="0">
                <a:solidFill>
                  <a:srgbClr val="E6D9D8"/>
                </a:solidFill>
                <a:latin typeface="Montserrat Medium" pitchFamily="34" charset="0"/>
                <a:ea typeface="Montserrat Medium" pitchFamily="34" charset="-122"/>
                <a:cs typeface="Montserrat Medium" pitchFamily="34" charset="-120"/>
              </a:rPr>
              <a:t>Continuous closed-loop intelligence from physical telemetry to automated conservation</a:t>
            </a:r>
            <a:endParaRPr lang="en-US" sz="2000" dirty="0"/>
          </a:p>
        </p:txBody>
      </p:sp>
      <p:sp>
        <p:nvSpPr>
          <p:cNvPr id="5" name="Shape 3"/>
          <p:cNvSpPr/>
          <p:nvPr/>
        </p:nvSpPr>
        <p:spPr>
          <a:xfrm>
            <a:off x="609585" y="2151063"/>
            <a:ext cx="10972526" cy="31651"/>
          </a:xfrm>
          <a:prstGeom prst="roundRect">
            <a:avLst>
              <a:gd name="adj" fmla="val 49998"/>
            </a:avLst>
          </a:prstGeom>
          <a:solidFill>
            <a:srgbClr val="3D2A31"/>
          </a:solidFill>
          <a:ln/>
        </p:spPr>
      </p:sp>
      <p:pic>
        <p:nvPicPr>
          <p:cNvPr id="6" name="Image 0" descr="preencoded.png"/>
          <p:cNvPicPr>
            <a:picLocks noChangeAspect="1"/>
          </p:cNvPicPr>
          <p:nvPr/>
        </p:nvPicPr>
        <p:blipFill>
          <a:blip r:embed="rId3"/>
          <a:stretch>
            <a:fillRect/>
          </a:stretch>
        </p:blipFill>
        <p:spPr>
          <a:xfrm>
            <a:off x="609585" y="2487712"/>
            <a:ext cx="1950691" cy="2876649"/>
          </a:xfrm>
          <a:prstGeom prst="rect">
            <a:avLst/>
          </a:prstGeom>
        </p:spPr>
      </p:pic>
      <p:sp>
        <p:nvSpPr>
          <p:cNvPr id="7" name="Shape 4"/>
          <p:cNvSpPr/>
          <p:nvPr/>
        </p:nvSpPr>
        <p:spPr>
          <a:xfrm>
            <a:off x="800080" y="2703612"/>
            <a:ext cx="550055" cy="482600"/>
          </a:xfrm>
          <a:prstGeom prst="rect">
            <a:avLst/>
          </a:prstGeom>
          <a:solidFill>
            <a:srgbClr val="FFD08A"/>
          </a:solidFill>
          <a:ln/>
        </p:spPr>
      </p:sp>
      <p:sp>
        <p:nvSpPr>
          <p:cNvPr id="8" name="Text 5"/>
          <p:cNvSpPr/>
          <p:nvPr/>
        </p:nvSpPr>
        <p:spPr>
          <a:xfrm>
            <a:off x="800080" y="2703612"/>
            <a:ext cx="1159640" cy="482600"/>
          </a:xfrm>
          <a:prstGeom prst="rect">
            <a:avLst/>
          </a:prstGeom>
          <a:noFill/>
          <a:ln/>
        </p:spPr>
        <p:txBody>
          <a:bodyPr wrap="none" lIns="0" tIns="0" rIns="0" bIns="0" rtlCol="0" anchor="t"/>
          <a:lstStyle/>
          <a:p>
            <a:pPr marL="0" indent="0" algn="l">
              <a:lnSpc>
                <a:spcPct val="83000"/>
              </a:lnSpc>
              <a:buNone/>
            </a:pPr>
            <a:r>
              <a:rPr lang="en-US" sz="3800" dirty="0">
                <a:solidFill>
                  <a:srgbClr val="FBF3F0"/>
                </a:solidFill>
                <a:latin typeface="Heebo SemiBold" pitchFamily="34" charset="0"/>
                <a:ea typeface="Heebo SemiBold" pitchFamily="34" charset="-122"/>
                <a:cs typeface="Heebo SemiBold" pitchFamily="34" charset="-120"/>
              </a:rPr>
              <a:t>01</a:t>
            </a:r>
            <a:endParaRPr lang="en-US" sz="3800" dirty="0"/>
          </a:p>
        </p:txBody>
      </p:sp>
      <p:sp>
        <p:nvSpPr>
          <p:cNvPr id="9" name="Shape 6"/>
          <p:cNvSpPr/>
          <p:nvPr/>
        </p:nvSpPr>
        <p:spPr>
          <a:xfrm>
            <a:off x="800080" y="3273127"/>
            <a:ext cx="1569601" cy="19050"/>
          </a:xfrm>
          <a:prstGeom prst="rect">
            <a:avLst/>
          </a:prstGeom>
          <a:solidFill>
            <a:srgbClr val="FF5A7A"/>
          </a:solidFill>
          <a:ln/>
        </p:spPr>
      </p:sp>
      <p:sp>
        <p:nvSpPr>
          <p:cNvPr id="10" name="Text 7"/>
          <p:cNvSpPr/>
          <p:nvPr/>
        </p:nvSpPr>
        <p:spPr>
          <a:xfrm>
            <a:off x="800080" y="3379093"/>
            <a:ext cx="1569701" cy="328116"/>
          </a:xfrm>
          <a:prstGeom prst="rect">
            <a:avLst/>
          </a:prstGeom>
          <a:noFill/>
          <a:ln/>
        </p:spPr>
        <p:txBody>
          <a:bodyPr wrap="none" lIns="0" tIns="0" rIns="0" bIns="0" rtlCol="0" anchor="t"/>
          <a:lstStyle/>
          <a:p>
            <a:pPr marL="0" indent="0" algn="l">
              <a:lnSpc>
                <a:spcPct val="113000"/>
              </a:lnSpc>
              <a:buNone/>
            </a:pPr>
            <a:r>
              <a:rPr lang="en-US" sz="1900" kern="100" spc="-47" dirty="0">
                <a:solidFill>
                  <a:srgbClr val="E6D9D8"/>
                </a:solidFill>
                <a:latin typeface="Montserrat Medium" pitchFamily="34" charset="0"/>
                <a:ea typeface="Montserrat Medium" pitchFamily="34" charset="-122"/>
                <a:cs typeface="Montserrat Medium" pitchFamily="34" charset="-120"/>
              </a:rPr>
              <a:t>Configure</a:t>
            </a:r>
            <a:endParaRPr lang="en-US" sz="1900" dirty="0"/>
          </a:p>
        </p:txBody>
      </p:sp>
      <p:sp>
        <p:nvSpPr>
          <p:cNvPr id="11" name="Text 8"/>
          <p:cNvSpPr/>
          <p:nvPr/>
        </p:nvSpPr>
        <p:spPr>
          <a:xfrm>
            <a:off x="800080" y="3859609"/>
            <a:ext cx="1569701" cy="1031081"/>
          </a:xfrm>
          <a:prstGeom prst="rect">
            <a:avLst/>
          </a:prstGeom>
          <a:noFill/>
          <a:ln/>
        </p:spPr>
        <p:txBody>
          <a:bodyPr wrap="square" lIns="0" tIns="0" rIns="0" bIns="0" rtlCol="0" anchor="t">
            <a:normAutofit/>
          </a:bodyPr>
          <a:lstStyle/>
          <a:p>
            <a:pPr marL="0" indent="0" algn="l">
              <a:lnSpc>
                <a:spcPct val="117000"/>
              </a:lnSpc>
              <a:buNone/>
            </a:pPr>
            <a:r>
              <a:rPr lang="en-US" sz="1450" dirty="0">
                <a:solidFill>
                  <a:srgbClr val="E6D9D8"/>
                </a:solidFill>
                <a:latin typeface="Heebo Light" pitchFamily="34" charset="0"/>
                <a:ea typeface="Heebo Light" pitchFamily="34" charset="-122"/>
                <a:cs typeface="Heebo Light" pitchFamily="34" charset="-120"/>
              </a:rPr>
              <a:t>Map houses, rooms, smart switch boxes, and load channels.</a:t>
            </a:r>
            <a:endParaRPr lang="en-US" sz="1450" dirty="0"/>
          </a:p>
        </p:txBody>
      </p:sp>
      <p:pic>
        <p:nvPicPr>
          <p:cNvPr id="12" name="Image 1" descr="preencoded.png"/>
          <p:cNvPicPr>
            <a:picLocks noChangeAspect="1"/>
          </p:cNvPicPr>
          <p:nvPr/>
        </p:nvPicPr>
        <p:blipFill>
          <a:blip r:embed="rId4"/>
          <a:stretch>
            <a:fillRect/>
          </a:stretch>
        </p:blipFill>
        <p:spPr>
          <a:xfrm>
            <a:off x="2864969" y="2487712"/>
            <a:ext cx="1950691" cy="2876649"/>
          </a:xfrm>
          <a:prstGeom prst="rect">
            <a:avLst/>
          </a:prstGeom>
        </p:spPr>
      </p:pic>
      <p:sp>
        <p:nvSpPr>
          <p:cNvPr id="13" name="Shape 9"/>
          <p:cNvSpPr/>
          <p:nvPr/>
        </p:nvSpPr>
        <p:spPr>
          <a:xfrm>
            <a:off x="3055464" y="2703612"/>
            <a:ext cx="550055" cy="482600"/>
          </a:xfrm>
          <a:prstGeom prst="rect">
            <a:avLst/>
          </a:prstGeom>
          <a:solidFill>
            <a:srgbClr val="FFD08A"/>
          </a:solidFill>
          <a:ln/>
        </p:spPr>
      </p:sp>
      <p:sp>
        <p:nvSpPr>
          <p:cNvPr id="14" name="Text 10"/>
          <p:cNvSpPr/>
          <p:nvPr/>
        </p:nvSpPr>
        <p:spPr>
          <a:xfrm>
            <a:off x="3055464" y="2703612"/>
            <a:ext cx="1159640" cy="482600"/>
          </a:xfrm>
          <a:prstGeom prst="rect">
            <a:avLst/>
          </a:prstGeom>
          <a:noFill/>
          <a:ln/>
        </p:spPr>
        <p:txBody>
          <a:bodyPr wrap="none" lIns="0" tIns="0" rIns="0" bIns="0" rtlCol="0" anchor="t"/>
          <a:lstStyle/>
          <a:p>
            <a:pPr marL="0" indent="0" algn="l">
              <a:lnSpc>
                <a:spcPct val="83000"/>
              </a:lnSpc>
              <a:buNone/>
            </a:pPr>
            <a:r>
              <a:rPr lang="en-US" sz="3800" dirty="0">
                <a:solidFill>
                  <a:srgbClr val="FBF3F0"/>
                </a:solidFill>
                <a:latin typeface="Heebo SemiBold" pitchFamily="34" charset="0"/>
                <a:ea typeface="Heebo SemiBold" pitchFamily="34" charset="-122"/>
                <a:cs typeface="Heebo SemiBold" pitchFamily="34" charset="-120"/>
              </a:rPr>
              <a:t>02</a:t>
            </a:r>
            <a:endParaRPr lang="en-US" sz="3800" dirty="0"/>
          </a:p>
        </p:txBody>
      </p:sp>
      <p:sp>
        <p:nvSpPr>
          <p:cNvPr id="15" name="Shape 11"/>
          <p:cNvSpPr/>
          <p:nvPr/>
        </p:nvSpPr>
        <p:spPr>
          <a:xfrm>
            <a:off x="3055464" y="3273127"/>
            <a:ext cx="1569601" cy="19050"/>
          </a:xfrm>
          <a:prstGeom prst="rect">
            <a:avLst/>
          </a:prstGeom>
          <a:solidFill>
            <a:srgbClr val="FF5A7A"/>
          </a:solidFill>
          <a:ln/>
        </p:spPr>
      </p:sp>
      <p:sp>
        <p:nvSpPr>
          <p:cNvPr id="16" name="Text 12"/>
          <p:cNvSpPr/>
          <p:nvPr/>
        </p:nvSpPr>
        <p:spPr>
          <a:xfrm>
            <a:off x="3055464" y="3379093"/>
            <a:ext cx="1569701" cy="328116"/>
          </a:xfrm>
          <a:prstGeom prst="rect">
            <a:avLst/>
          </a:prstGeom>
          <a:noFill/>
          <a:ln/>
        </p:spPr>
        <p:txBody>
          <a:bodyPr wrap="none" lIns="0" tIns="0" rIns="0" bIns="0" rtlCol="0" anchor="t"/>
          <a:lstStyle/>
          <a:p>
            <a:pPr marL="0" indent="0" algn="l">
              <a:lnSpc>
                <a:spcPct val="113000"/>
              </a:lnSpc>
              <a:buNone/>
            </a:pPr>
            <a:r>
              <a:rPr lang="en-US" sz="1900" kern="100" spc="-47" dirty="0">
                <a:solidFill>
                  <a:srgbClr val="E6D9D8"/>
                </a:solidFill>
                <a:latin typeface="Montserrat Medium" pitchFamily="34" charset="0"/>
                <a:ea typeface="Montserrat Medium" pitchFamily="34" charset="-122"/>
                <a:cs typeface="Montserrat Medium" pitchFamily="34" charset="-120"/>
              </a:rPr>
              <a:t>Monitor</a:t>
            </a:r>
            <a:endParaRPr lang="en-US" sz="1900" dirty="0"/>
          </a:p>
        </p:txBody>
      </p:sp>
      <p:sp>
        <p:nvSpPr>
          <p:cNvPr id="17" name="Text 13"/>
          <p:cNvSpPr/>
          <p:nvPr/>
        </p:nvSpPr>
        <p:spPr>
          <a:xfrm>
            <a:off x="3055464" y="3859609"/>
            <a:ext cx="1569701" cy="1031081"/>
          </a:xfrm>
          <a:prstGeom prst="rect">
            <a:avLst/>
          </a:prstGeom>
          <a:noFill/>
          <a:ln/>
        </p:spPr>
        <p:txBody>
          <a:bodyPr wrap="square" lIns="0" tIns="0" rIns="0" bIns="0" rtlCol="0" anchor="t">
            <a:normAutofit/>
          </a:bodyPr>
          <a:lstStyle/>
          <a:p>
            <a:pPr marL="0" indent="0" algn="l">
              <a:lnSpc>
                <a:spcPct val="117000"/>
              </a:lnSpc>
              <a:buNone/>
            </a:pPr>
            <a:r>
              <a:rPr lang="en-US" sz="1450" dirty="0">
                <a:solidFill>
                  <a:srgbClr val="E6D9D8"/>
                </a:solidFill>
                <a:latin typeface="Heebo Light" pitchFamily="34" charset="0"/>
                <a:ea typeface="Heebo Light" pitchFamily="34" charset="-122"/>
                <a:cs typeface="Heebo Light" pitchFamily="34" charset="-120"/>
              </a:rPr>
              <a:t>Capture real-time kW, kWh, V, and A reconciled to the main meter.</a:t>
            </a:r>
            <a:endParaRPr lang="en-US" sz="1450" dirty="0"/>
          </a:p>
        </p:txBody>
      </p:sp>
      <p:pic>
        <p:nvPicPr>
          <p:cNvPr id="18" name="Image 2" descr="preencoded.png"/>
          <p:cNvPicPr>
            <a:picLocks noChangeAspect="1"/>
          </p:cNvPicPr>
          <p:nvPr/>
        </p:nvPicPr>
        <p:blipFill>
          <a:blip r:embed="rId5"/>
          <a:stretch>
            <a:fillRect/>
          </a:stretch>
        </p:blipFill>
        <p:spPr>
          <a:xfrm>
            <a:off x="5120353" y="2487712"/>
            <a:ext cx="1950889" cy="2876649"/>
          </a:xfrm>
          <a:prstGeom prst="rect">
            <a:avLst/>
          </a:prstGeom>
        </p:spPr>
      </p:pic>
      <p:sp>
        <p:nvSpPr>
          <p:cNvPr id="19" name="Shape 14"/>
          <p:cNvSpPr/>
          <p:nvPr/>
        </p:nvSpPr>
        <p:spPr>
          <a:xfrm>
            <a:off x="5310848" y="2703612"/>
            <a:ext cx="550055" cy="482600"/>
          </a:xfrm>
          <a:prstGeom prst="rect">
            <a:avLst/>
          </a:prstGeom>
          <a:solidFill>
            <a:srgbClr val="FFD08A"/>
          </a:solidFill>
          <a:ln/>
        </p:spPr>
      </p:sp>
      <p:sp>
        <p:nvSpPr>
          <p:cNvPr id="20" name="Text 15"/>
          <p:cNvSpPr/>
          <p:nvPr/>
        </p:nvSpPr>
        <p:spPr>
          <a:xfrm>
            <a:off x="5310848" y="2703612"/>
            <a:ext cx="1159640" cy="482600"/>
          </a:xfrm>
          <a:prstGeom prst="rect">
            <a:avLst/>
          </a:prstGeom>
          <a:noFill/>
          <a:ln/>
        </p:spPr>
        <p:txBody>
          <a:bodyPr wrap="none" lIns="0" tIns="0" rIns="0" bIns="0" rtlCol="0" anchor="t"/>
          <a:lstStyle/>
          <a:p>
            <a:pPr marL="0" indent="0" algn="l">
              <a:lnSpc>
                <a:spcPct val="83000"/>
              </a:lnSpc>
              <a:buNone/>
            </a:pPr>
            <a:r>
              <a:rPr lang="en-US" sz="3800" dirty="0">
                <a:solidFill>
                  <a:srgbClr val="FBF3F0"/>
                </a:solidFill>
                <a:latin typeface="Heebo SemiBold" pitchFamily="34" charset="0"/>
                <a:ea typeface="Heebo SemiBold" pitchFamily="34" charset="-122"/>
                <a:cs typeface="Heebo SemiBold" pitchFamily="34" charset="-120"/>
              </a:rPr>
              <a:t>03</a:t>
            </a:r>
            <a:endParaRPr lang="en-US" sz="3800" dirty="0"/>
          </a:p>
        </p:txBody>
      </p:sp>
      <p:sp>
        <p:nvSpPr>
          <p:cNvPr id="21" name="Shape 16"/>
          <p:cNvSpPr/>
          <p:nvPr/>
        </p:nvSpPr>
        <p:spPr>
          <a:xfrm>
            <a:off x="5310848" y="3273127"/>
            <a:ext cx="1569899" cy="19050"/>
          </a:xfrm>
          <a:prstGeom prst="rect">
            <a:avLst/>
          </a:prstGeom>
          <a:solidFill>
            <a:srgbClr val="FF5A7A"/>
          </a:solidFill>
          <a:ln/>
        </p:spPr>
      </p:sp>
      <p:sp>
        <p:nvSpPr>
          <p:cNvPr id="22" name="Text 17"/>
          <p:cNvSpPr/>
          <p:nvPr/>
        </p:nvSpPr>
        <p:spPr>
          <a:xfrm>
            <a:off x="5310848" y="3379093"/>
            <a:ext cx="1569899" cy="328116"/>
          </a:xfrm>
          <a:prstGeom prst="rect">
            <a:avLst/>
          </a:prstGeom>
          <a:noFill/>
          <a:ln/>
        </p:spPr>
        <p:txBody>
          <a:bodyPr wrap="none" lIns="0" tIns="0" rIns="0" bIns="0" rtlCol="0" anchor="t"/>
          <a:lstStyle/>
          <a:p>
            <a:pPr marL="0" indent="0" algn="l">
              <a:lnSpc>
                <a:spcPct val="113000"/>
              </a:lnSpc>
              <a:buNone/>
            </a:pPr>
            <a:r>
              <a:rPr lang="en-US" sz="1900" kern="100" spc="-47" dirty="0">
                <a:solidFill>
                  <a:srgbClr val="E6D9D8"/>
                </a:solidFill>
                <a:latin typeface="Montserrat Medium" pitchFamily="34" charset="0"/>
                <a:ea typeface="Montserrat Medium" pitchFamily="34" charset="-122"/>
                <a:cs typeface="Montserrat Medium" pitchFamily="34" charset="-120"/>
              </a:rPr>
              <a:t>Analyze</a:t>
            </a:r>
            <a:endParaRPr lang="en-US" sz="1900" dirty="0"/>
          </a:p>
        </p:txBody>
      </p:sp>
      <p:sp>
        <p:nvSpPr>
          <p:cNvPr id="23" name="Text 18"/>
          <p:cNvSpPr/>
          <p:nvPr/>
        </p:nvSpPr>
        <p:spPr>
          <a:xfrm>
            <a:off x="5310848" y="3859609"/>
            <a:ext cx="1569899" cy="1288852"/>
          </a:xfrm>
          <a:prstGeom prst="rect">
            <a:avLst/>
          </a:prstGeom>
          <a:noFill/>
          <a:ln/>
        </p:spPr>
        <p:txBody>
          <a:bodyPr wrap="square" lIns="0" tIns="0" rIns="0" bIns="0" rtlCol="0" anchor="t">
            <a:normAutofit/>
          </a:bodyPr>
          <a:lstStyle/>
          <a:p>
            <a:pPr marL="0" indent="0" algn="l">
              <a:lnSpc>
                <a:spcPct val="117000"/>
              </a:lnSpc>
              <a:buNone/>
            </a:pPr>
            <a:r>
              <a:rPr lang="en-US" sz="1450" dirty="0">
                <a:solidFill>
                  <a:srgbClr val="E6D9D8"/>
                </a:solidFill>
                <a:latin typeface="Heebo Light" pitchFamily="34" charset="0"/>
                <a:ea typeface="Heebo Light" pitchFamily="34" charset="-122"/>
                <a:cs typeface="Heebo Light" pitchFamily="34" charset="-120"/>
              </a:rPr>
              <a:t>AI models detect anomalies, forecast load, and isolate standby waste.</a:t>
            </a:r>
            <a:endParaRPr lang="en-US" sz="1450" dirty="0"/>
          </a:p>
        </p:txBody>
      </p:sp>
      <p:pic>
        <p:nvPicPr>
          <p:cNvPr id="24" name="Image 3" descr="preencoded.png"/>
          <p:cNvPicPr>
            <a:picLocks noChangeAspect="1"/>
          </p:cNvPicPr>
          <p:nvPr/>
        </p:nvPicPr>
        <p:blipFill>
          <a:blip r:embed="rId6"/>
          <a:stretch>
            <a:fillRect/>
          </a:stretch>
        </p:blipFill>
        <p:spPr>
          <a:xfrm>
            <a:off x="7375936" y="2487712"/>
            <a:ext cx="1950691" cy="2876649"/>
          </a:xfrm>
          <a:prstGeom prst="rect">
            <a:avLst/>
          </a:prstGeom>
        </p:spPr>
      </p:pic>
      <p:sp>
        <p:nvSpPr>
          <p:cNvPr id="25" name="Shape 19"/>
          <p:cNvSpPr/>
          <p:nvPr/>
        </p:nvSpPr>
        <p:spPr>
          <a:xfrm>
            <a:off x="7566431" y="2703612"/>
            <a:ext cx="550055" cy="482600"/>
          </a:xfrm>
          <a:prstGeom prst="rect">
            <a:avLst/>
          </a:prstGeom>
          <a:solidFill>
            <a:srgbClr val="FFD08A"/>
          </a:solidFill>
          <a:ln/>
        </p:spPr>
      </p:sp>
      <p:sp>
        <p:nvSpPr>
          <p:cNvPr id="26" name="Text 20"/>
          <p:cNvSpPr/>
          <p:nvPr/>
        </p:nvSpPr>
        <p:spPr>
          <a:xfrm>
            <a:off x="7566431" y="2703612"/>
            <a:ext cx="1159640" cy="482600"/>
          </a:xfrm>
          <a:prstGeom prst="rect">
            <a:avLst/>
          </a:prstGeom>
          <a:noFill/>
          <a:ln/>
        </p:spPr>
        <p:txBody>
          <a:bodyPr wrap="none" lIns="0" tIns="0" rIns="0" bIns="0" rtlCol="0" anchor="t"/>
          <a:lstStyle/>
          <a:p>
            <a:pPr marL="0" indent="0" algn="l">
              <a:lnSpc>
                <a:spcPct val="83000"/>
              </a:lnSpc>
              <a:buNone/>
            </a:pPr>
            <a:r>
              <a:rPr lang="en-US" sz="3800" dirty="0">
                <a:solidFill>
                  <a:srgbClr val="FBF3F0"/>
                </a:solidFill>
                <a:latin typeface="Heebo SemiBold" pitchFamily="34" charset="0"/>
                <a:ea typeface="Heebo SemiBold" pitchFamily="34" charset="-122"/>
                <a:cs typeface="Heebo SemiBold" pitchFamily="34" charset="-120"/>
              </a:rPr>
              <a:t>04</a:t>
            </a:r>
            <a:endParaRPr lang="en-US" sz="3800" dirty="0"/>
          </a:p>
        </p:txBody>
      </p:sp>
      <p:sp>
        <p:nvSpPr>
          <p:cNvPr id="27" name="Shape 21"/>
          <p:cNvSpPr/>
          <p:nvPr/>
        </p:nvSpPr>
        <p:spPr>
          <a:xfrm>
            <a:off x="7566431" y="3273127"/>
            <a:ext cx="1569601" cy="19050"/>
          </a:xfrm>
          <a:prstGeom prst="rect">
            <a:avLst/>
          </a:prstGeom>
          <a:solidFill>
            <a:srgbClr val="FF5A7A"/>
          </a:solidFill>
          <a:ln/>
        </p:spPr>
      </p:sp>
      <p:sp>
        <p:nvSpPr>
          <p:cNvPr id="28" name="Text 22"/>
          <p:cNvSpPr/>
          <p:nvPr/>
        </p:nvSpPr>
        <p:spPr>
          <a:xfrm>
            <a:off x="7566431" y="3379093"/>
            <a:ext cx="1569701" cy="328116"/>
          </a:xfrm>
          <a:prstGeom prst="rect">
            <a:avLst/>
          </a:prstGeom>
          <a:noFill/>
          <a:ln/>
        </p:spPr>
        <p:txBody>
          <a:bodyPr wrap="none" lIns="0" tIns="0" rIns="0" bIns="0" rtlCol="0" anchor="t"/>
          <a:lstStyle/>
          <a:p>
            <a:pPr marL="0" indent="0" algn="l">
              <a:lnSpc>
                <a:spcPct val="113000"/>
              </a:lnSpc>
              <a:buNone/>
            </a:pPr>
            <a:r>
              <a:rPr lang="en-US" sz="1900" kern="100" spc="-47" dirty="0">
                <a:solidFill>
                  <a:srgbClr val="E6D9D8"/>
                </a:solidFill>
                <a:latin typeface="Montserrat Medium" pitchFamily="34" charset="0"/>
                <a:ea typeface="Montserrat Medium" pitchFamily="34" charset="-122"/>
                <a:cs typeface="Montserrat Medium" pitchFamily="34" charset="-120"/>
              </a:rPr>
              <a:t>Control</a:t>
            </a:r>
            <a:endParaRPr lang="en-US" sz="1900" dirty="0"/>
          </a:p>
        </p:txBody>
      </p:sp>
      <p:sp>
        <p:nvSpPr>
          <p:cNvPr id="29" name="Text 23"/>
          <p:cNvSpPr/>
          <p:nvPr/>
        </p:nvSpPr>
        <p:spPr>
          <a:xfrm>
            <a:off x="7566431" y="3859609"/>
            <a:ext cx="1569701" cy="1031081"/>
          </a:xfrm>
          <a:prstGeom prst="rect">
            <a:avLst/>
          </a:prstGeom>
          <a:noFill/>
          <a:ln/>
        </p:spPr>
        <p:txBody>
          <a:bodyPr wrap="square" lIns="0" tIns="0" rIns="0" bIns="0" rtlCol="0" anchor="t">
            <a:normAutofit/>
          </a:bodyPr>
          <a:lstStyle/>
          <a:p>
            <a:pPr marL="0" indent="0" algn="l">
              <a:lnSpc>
                <a:spcPct val="117000"/>
              </a:lnSpc>
              <a:buNone/>
            </a:pPr>
            <a:r>
              <a:rPr lang="en-US" sz="1450" dirty="0">
                <a:solidFill>
                  <a:srgbClr val="E6D9D8"/>
                </a:solidFill>
                <a:latin typeface="Heebo Light" pitchFamily="34" charset="0"/>
                <a:ea typeface="Heebo Light" pitchFamily="34" charset="-122"/>
                <a:cs typeface="Heebo Light" pitchFamily="34" charset="-120"/>
              </a:rPr>
              <a:t>Automate smart energy modes, load shifting, and device schedules.</a:t>
            </a:r>
            <a:endParaRPr lang="en-US" sz="1450" dirty="0"/>
          </a:p>
        </p:txBody>
      </p:sp>
      <p:pic>
        <p:nvPicPr>
          <p:cNvPr id="30" name="Image 4" descr="preencoded.png"/>
          <p:cNvPicPr>
            <a:picLocks noChangeAspect="1"/>
          </p:cNvPicPr>
          <p:nvPr/>
        </p:nvPicPr>
        <p:blipFill>
          <a:blip r:embed="rId7"/>
          <a:stretch>
            <a:fillRect/>
          </a:stretch>
        </p:blipFill>
        <p:spPr>
          <a:xfrm>
            <a:off x="9631320" y="2487712"/>
            <a:ext cx="1950790" cy="2876649"/>
          </a:xfrm>
          <a:prstGeom prst="rect">
            <a:avLst/>
          </a:prstGeom>
        </p:spPr>
      </p:pic>
      <p:sp>
        <p:nvSpPr>
          <p:cNvPr id="31" name="Shape 24"/>
          <p:cNvSpPr/>
          <p:nvPr/>
        </p:nvSpPr>
        <p:spPr>
          <a:xfrm>
            <a:off x="9821815" y="2703612"/>
            <a:ext cx="550055" cy="482600"/>
          </a:xfrm>
          <a:prstGeom prst="rect">
            <a:avLst/>
          </a:prstGeom>
          <a:solidFill>
            <a:srgbClr val="FFD08A"/>
          </a:solidFill>
          <a:ln/>
        </p:spPr>
      </p:sp>
      <p:sp>
        <p:nvSpPr>
          <p:cNvPr id="32" name="Text 25"/>
          <p:cNvSpPr/>
          <p:nvPr/>
        </p:nvSpPr>
        <p:spPr>
          <a:xfrm>
            <a:off x="9821815" y="2703612"/>
            <a:ext cx="1159640" cy="482600"/>
          </a:xfrm>
          <a:prstGeom prst="rect">
            <a:avLst/>
          </a:prstGeom>
          <a:noFill/>
          <a:ln/>
        </p:spPr>
        <p:txBody>
          <a:bodyPr wrap="none" lIns="0" tIns="0" rIns="0" bIns="0" rtlCol="0" anchor="t"/>
          <a:lstStyle/>
          <a:p>
            <a:pPr marL="0" indent="0" algn="l">
              <a:lnSpc>
                <a:spcPct val="83000"/>
              </a:lnSpc>
              <a:buNone/>
            </a:pPr>
            <a:r>
              <a:rPr lang="en-US" sz="3800" dirty="0">
                <a:solidFill>
                  <a:srgbClr val="FBF3F0"/>
                </a:solidFill>
                <a:latin typeface="Heebo SemiBold" pitchFamily="34" charset="0"/>
                <a:ea typeface="Heebo SemiBold" pitchFamily="34" charset="-122"/>
                <a:cs typeface="Heebo SemiBold" pitchFamily="34" charset="-120"/>
              </a:rPr>
              <a:t>05</a:t>
            </a:r>
            <a:endParaRPr lang="en-US" sz="3800" dirty="0"/>
          </a:p>
        </p:txBody>
      </p:sp>
      <p:sp>
        <p:nvSpPr>
          <p:cNvPr id="33" name="Shape 26"/>
          <p:cNvSpPr/>
          <p:nvPr/>
        </p:nvSpPr>
        <p:spPr>
          <a:xfrm>
            <a:off x="9821815" y="3273127"/>
            <a:ext cx="1569701" cy="19050"/>
          </a:xfrm>
          <a:prstGeom prst="rect">
            <a:avLst/>
          </a:prstGeom>
          <a:solidFill>
            <a:srgbClr val="FF5A7A"/>
          </a:solidFill>
          <a:ln/>
        </p:spPr>
      </p:sp>
      <p:sp>
        <p:nvSpPr>
          <p:cNvPr id="34" name="Text 27"/>
          <p:cNvSpPr/>
          <p:nvPr/>
        </p:nvSpPr>
        <p:spPr>
          <a:xfrm>
            <a:off x="9821815" y="3379093"/>
            <a:ext cx="1569800" cy="328116"/>
          </a:xfrm>
          <a:prstGeom prst="rect">
            <a:avLst/>
          </a:prstGeom>
          <a:noFill/>
          <a:ln/>
        </p:spPr>
        <p:txBody>
          <a:bodyPr wrap="none" lIns="0" tIns="0" rIns="0" bIns="0" rtlCol="0" anchor="t"/>
          <a:lstStyle/>
          <a:p>
            <a:pPr marL="0" indent="0" algn="l">
              <a:lnSpc>
                <a:spcPct val="113000"/>
              </a:lnSpc>
              <a:buNone/>
            </a:pPr>
            <a:r>
              <a:rPr lang="en-US" sz="1900" kern="100" spc="-47" dirty="0">
                <a:solidFill>
                  <a:srgbClr val="E6D9D8"/>
                </a:solidFill>
                <a:latin typeface="Montserrat Medium" pitchFamily="34" charset="0"/>
                <a:ea typeface="Montserrat Medium" pitchFamily="34" charset="-122"/>
                <a:cs typeface="Montserrat Medium" pitchFamily="34" charset="-120"/>
              </a:rPr>
              <a:t>Verify</a:t>
            </a:r>
            <a:endParaRPr lang="en-US" sz="1900" dirty="0"/>
          </a:p>
        </p:txBody>
      </p:sp>
      <p:sp>
        <p:nvSpPr>
          <p:cNvPr id="35" name="Text 28"/>
          <p:cNvSpPr/>
          <p:nvPr/>
        </p:nvSpPr>
        <p:spPr>
          <a:xfrm>
            <a:off x="9821815" y="3859609"/>
            <a:ext cx="1569800" cy="1031081"/>
          </a:xfrm>
          <a:prstGeom prst="rect">
            <a:avLst/>
          </a:prstGeom>
          <a:noFill/>
          <a:ln/>
        </p:spPr>
        <p:txBody>
          <a:bodyPr wrap="square" lIns="0" tIns="0" rIns="0" bIns="0" rtlCol="0" anchor="t">
            <a:normAutofit/>
          </a:bodyPr>
          <a:lstStyle/>
          <a:p>
            <a:pPr marL="0" indent="0" algn="l">
              <a:lnSpc>
                <a:spcPct val="117000"/>
              </a:lnSpc>
              <a:buNone/>
            </a:pPr>
            <a:r>
              <a:rPr lang="en-US" sz="1450" dirty="0">
                <a:solidFill>
                  <a:srgbClr val="E6D9D8"/>
                </a:solidFill>
                <a:latin typeface="Heebo Light" pitchFamily="34" charset="0"/>
                <a:ea typeface="Heebo Light" pitchFamily="34" charset="-122"/>
                <a:cs typeface="Heebo Light" pitchFamily="34" charset="-120"/>
              </a:rPr>
              <a:t>Validate measured kilowatt-hour reductions directly on utility bills.</a:t>
            </a:r>
            <a:endParaRPr lang="en-US" sz="1450" dirty="0"/>
          </a:p>
        </p:txBody>
      </p:sp>
      <p:sp>
        <p:nvSpPr>
          <p:cNvPr id="36" name="Text 29"/>
          <p:cNvSpPr/>
          <p:nvPr/>
        </p:nvSpPr>
        <p:spPr>
          <a:xfrm>
            <a:off x="609585" y="6058595"/>
            <a:ext cx="11582110" cy="189805"/>
          </a:xfrm>
          <a:prstGeom prst="rect">
            <a:avLst/>
          </a:prstGeom>
          <a:noFill/>
          <a:ln/>
        </p:spPr>
        <p:txBody>
          <a:bodyPr wrap="none" lIns="0" tIns="0" rIns="0" bIns="0" rtlCol="0" anchor="t"/>
          <a:lstStyle/>
          <a:p>
            <a:pPr marL="0" indent="0" algn="l">
              <a:lnSpc>
                <a:spcPct val="108000"/>
              </a:lnSpc>
              <a:buNone/>
            </a:pPr>
            <a:r>
              <a:rPr lang="en-US" sz="1150" kern="100" spc="17" dirty="0">
                <a:solidFill>
                  <a:srgbClr val="A89598"/>
                </a:solidFill>
                <a:latin typeface="Heebo" pitchFamily="34" charset="0"/>
                <a:ea typeface="Heebo" pitchFamily="34" charset="-122"/>
                <a:cs typeface="Heebo" pitchFamily="34" charset="-120"/>
              </a:rPr>
              <a:t>AI Energy Copilot continuously explains consumption spikes and delivers tailored optimization actions.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09600"/>
            <a:ext cx="11582110" cy="182860"/>
          </a:xfrm>
          <a:prstGeom prst="rect">
            <a:avLst/>
          </a:prstGeom>
          <a:noFill/>
          <a:ln/>
        </p:spPr>
        <p:txBody>
          <a:bodyPr wrap="none" lIns="0" tIns="0" rIns="0" bIns="0" rtlCol="0" anchor="t"/>
          <a:lstStyle/>
          <a:p>
            <a:pPr marL="0" indent="0" algn="l">
              <a:lnSpc>
                <a:spcPct val="100000"/>
              </a:lnSpc>
              <a:buNone/>
            </a:pPr>
            <a:r>
              <a:rPr lang="en-US" sz="1200" kern="100" spc="96" dirty="0">
                <a:solidFill>
                  <a:srgbClr val="C4B0B2"/>
                </a:solidFill>
                <a:latin typeface="Heebo Medium" pitchFamily="34" charset="0"/>
                <a:ea typeface="Heebo Medium" pitchFamily="34" charset="-122"/>
                <a:cs typeface="Heebo Medium" pitchFamily="34" charset="-120"/>
              </a:rPr>
              <a:t>END-TO-END TOPOLOGY</a:t>
            </a:r>
            <a:endParaRPr lang="en-US" sz="1200" dirty="0"/>
          </a:p>
        </p:txBody>
      </p:sp>
      <p:sp>
        <p:nvSpPr>
          <p:cNvPr id="3" name="Text 1"/>
          <p:cNvSpPr/>
          <p:nvPr/>
        </p:nvSpPr>
        <p:spPr>
          <a:xfrm>
            <a:off x="609585" y="878185"/>
            <a:ext cx="10972526" cy="457696"/>
          </a:xfrm>
          <a:prstGeom prst="rect">
            <a:avLst/>
          </a:prstGeom>
          <a:noFill/>
          <a:ln/>
        </p:spPr>
        <p:txBody>
          <a:bodyPr wrap="none" lIns="0" tIns="0" rIns="0" bIns="0" rtlCol="0" anchor="t"/>
          <a:lstStyle/>
          <a:p>
            <a:pPr marL="0" indent="0" algn="l">
              <a:lnSpc>
                <a:spcPct val="88000"/>
              </a:lnSpc>
              <a:buNone/>
            </a:pPr>
            <a:r>
              <a:rPr lang="en-US" sz="3400" kern="100" spc="-85" dirty="0">
                <a:solidFill>
                  <a:srgbClr val="FBF3F0"/>
                </a:solidFill>
                <a:latin typeface="Montserrat SemiBold" pitchFamily="34" charset="0"/>
                <a:ea typeface="Montserrat SemiBold" pitchFamily="34" charset="-122"/>
                <a:cs typeface="Montserrat SemiBold" pitchFamily="34" charset="-120"/>
              </a:rPr>
              <a:t>Utility-to-device energy intelligence</a:t>
            </a:r>
            <a:endParaRPr lang="en-US" sz="3400" dirty="0"/>
          </a:p>
        </p:txBody>
      </p:sp>
      <p:sp>
        <p:nvSpPr>
          <p:cNvPr id="4" name="Shape 2"/>
          <p:cNvSpPr/>
          <p:nvPr/>
        </p:nvSpPr>
        <p:spPr>
          <a:xfrm>
            <a:off x="609585" y="1675507"/>
            <a:ext cx="10972526" cy="31651"/>
          </a:xfrm>
          <a:prstGeom prst="roundRect">
            <a:avLst>
              <a:gd name="adj" fmla="val 49998"/>
            </a:avLst>
          </a:prstGeom>
          <a:solidFill>
            <a:srgbClr val="3D2A31"/>
          </a:solidFill>
          <a:ln/>
        </p:spPr>
      </p:sp>
      <p:pic>
        <p:nvPicPr>
          <p:cNvPr id="5" name="Image 0" descr="preencoded.png"/>
          <p:cNvPicPr>
            <a:picLocks noChangeAspect="1"/>
          </p:cNvPicPr>
          <p:nvPr/>
        </p:nvPicPr>
        <p:blipFill>
          <a:blip r:embed="rId3"/>
          <a:stretch>
            <a:fillRect/>
          </a:stretch>
        </p:blipFill>
        <p:spPr>
          <a:xfrm>
            <a:off x="609585" y="1961356"/>
            <a:ext cx="7067968" cy="3047901"/>
          </a:xfrm>
          <a:prstGeom prst="rect">
            <a:avLst/>
          </a:prstGeom>
        </p:spPr>
      </p:pic>
      <p:sp>
        <p:nvSpPr>
          <p:cNvPr id="6" name="Text 3"/>
          <p:cNvSpPr/>
          <p:nvPr/>
        </p:nvSpPr>
        <p:spPr>
          <a:xfrm>
            <a:off x="1086980" y="2132386"/>
            <a:ext cx="3886831" cy="243476"/>
          </a:xfrm>
          <a:prstGeom prst="rect">
            <a:avLst/>
          </a:prstGeom>
          <a:noFill/>
          <a:ln/>
        </p:spPr>
        <p:txBody>
          <a:bodyPr wrap="none" lIns="0" tIns="0" rIns="0" bIns="0" rtlCol="0" anchor="t"/>
          <a:lstStyle/>
          <a:p>
            <a:pPr marL="0" indent="0" algn="l">
              <a:lnSpc>
                <a:spcPct val="113000"/>
              </a:lnSpc>
              <a:buNone/>
            </a:pPr>
            <a:r>
              <a:rPr lang="en-US" sz="1400" kern="100" spc="-35" dirty="0">
                <a:solidFill>
                  <a:srgbClr val="000000"/>
                </a:solidFill>
                <a:latin typeface="Montserrat SemiBold" pitchFamily="34" charset="0"/>
                <a:ea typeface="Montserrat SemiBold" pitchFamily="34" charset="-122"/>
                <a:cs typeface="Montserrat SemiBold" pitchFamily="34" charset="-120"/>
              </a:rPr>
              <a:t>Utility / government power meter</a:t>
            </a:r>
            <a:endParaRPr lang="en-US" sz="1400" dirty="0"/>
          </a:p>
        </p:txBody>
      </p:sp>
      <p:sp>
        <p:nvSpPr>
          <p:cNvPr id="7" name="Text 4"/>
          <p:cNvSpPr/>
          <p:nvPr/>
        </p:nvSpPr>
        <p:spPr>
          <a:xfrm>
            <a:off x="1086980" y="2452799"/>
            <a:ext cx="3886831" cy="179496"/>
          </a:xfrm>
          <a:prstGeom prst="rect">
            <a:avLst/>
          </a:prstGeom>
          <a:noFill/>
          <a:ln/>
        </p:spPr>
        <p:txBody>
          <a:bodyPr wrap="none" lIns="0" tIns="0" rIns="0" bIns="0" rtlCol="0" anchor="t"/>
          <a:lstStyle/>
          <a:p>
            <a:pPr marL="0" indent="0" algn="l">
              <a:lnSpc>
                <a:spcPct val="117000"/>
              </a:lnSpc>
              <a:buNone/>
            </a:pPr>
            <a:r>
              <a:rPr lang="en-US" sz="1000" dirty="0">
                <a:solidFill>
                  <a:srgbClr val="000000"/>
                </a:solidFill>
                <a:latin typeface="Heebo Light" pitchFamily="34" charset="0"/>
                <a:ea typeface="Heebo Light" pitchFamily="34" charset="-122"/>
                <a:cs typeface="Heebo Light" pitchFamily="34" charset="-120"/>
              </a:rPr>
              <a:t>Main supply → distribution board → house</a:t>
            </a:r>
            <a:endParaRPr lang="en-US" sz="1000" dirty="0"/>
          </a:p>
        </p:txBody>
      </p:sp>
      <p:sp>
        <p:nvSpPr>
          <p:cNvPr id="8" name="Text 5"/>
          <p:cNvSpPr/>
          <p:nvPr/>
        </p:nvSpPr>
        <p:spPr>
          <a:xfrm>
            <a:off x="1086980" y="2839180"/>
            <a:ext cx="3886831" cy="243476"/>
          </a:xfrm>
          <a:prstGeom prst="rect">
            <a:avLst/>
          </a:prstGeom>
          <a:noFill/>
          <a:ln/>
        </p:spPr>
        <p:txBody>
          <a:bodyPr wrap="none" lIns="0" tIns="0" rIns="0" bIns="0" rtlCol="0" anchor="t"/>
          <a:lstStyle/>
          <a:p>
            <a:pPr marL="0" indent="0" algn="l">
              <a:lnSpc>
                <a:spcPct val="113000"/>
              </a:lnSpc>
              <a:buNone/>
            </a:pPr>
            <a:r>
              <a:rPr lang="en-US" sz="1400" kern="100" spc="-35" dirty="0">
                <a:solidFill>
                  <a:srgbClr val="000000"/>
                </a:solidFill>
                <a:latin typeface="Montserrat SemiBold" pitchFamily="34" charset="0"/>
                <a:ea typeface="Montserrat SemiBold" pitchFamily="34" charset="-122"/>
                <a:cs typeface="Montserrat SemiBold" pitchFamily="34" charset="-120"/>
              </a:rPr>
              <a:t>Rooms → smart switch boxes</a:t>
            </a:r>
            <a:endParaRPr lang="en-US" sz="1400" dirty="0"/>
          </a:p>
        </p:txBody>
      </p:sp>
      <p:sp>
        <p:nvSpPr>
          <p:cNvPr id="9" name="Text 6"/>
          <p:cNvSpPr/>
          <p:nvPr/>
        </p:nvSpPr>
        <p:spPr>
          <a:xfrm>
            <a:off x="1086980" y="3159594"/>
            <a:ext cx="3886831" cy="179496"/>
          </a:xfrm>
          <a:prstGeom prst="rect">
            <a:avLst/>
          </a:prstGeom>
          <a:noFill/>
          <a:ln/>
        </p:spPr>
        <p:txBody>
          <a:bodyPr wrap="none" lIns="0" tIns="0" rIns="0" bIns="0" rtlCol="0" anchor="t"/>
          <a:lstStyle/>
          <a:p>
            <a:pPr marL="0" indent="0" algn="l">
              <a:lnSpc>
                <a:spcPct val="117000"/>
              </a:lnSpc>
              <a:buNone/>
            </a:pPr>
            <a:r>
              <a:rPr lang="en-US" sz="1000" dirty="0">
                <a:solidFill>
                  <a:srgbClr val="000000"/>
                </a:solidFill>
                <a:latin typeface="Heebo Light" pitchFamily="34" charset="0"/>
                <a:ea typeface="Heebo Light" pitchFamily="34" charset="-122"/>
                <a:cs typeface="Heebo Light" pitchFamily="34" charset="-120"/>
              </a:rPr>
              <a:t>Switch channels → connected devices</a:t>
            </a:r>
            <a:endParaRPr lang="en-US" sz="1000" dirty="0"/>
          </a:p>
        </p:txBody>
      </p:sp>
      <p:sp>
        <p:nvSpPr>
          <p:cNvPr id="10" name="Text 7"/>
          <p:cNvSpPr/>
          <p:nvPr/>
        </p:nvSpPr>
        <p:spPr>
          <a:xfrm>
            <a:off x="1086980" y="3538907"/>
            <a:ext cx="3886831" cy="243476"/>
          </a:xfrm>
          <a:prstGeom prst="rect">
            <a:avLst/>
          </a:prstGeom>
          <a:noFill/>
          <a:ln/>
        </p:spPr>
        <p:txBody>
          <a:bodyPr wrap="none" lIns="0" tIns="0" rIns="0" bIns="0" rtlCol="0" anchor="t"/>
          <a:lstStyle/>
          <a:p>
            <a:pPr marL="0" indent="0" algn="l">
              <a:lnSpc>
                <a:spcPct val="113000"/>
              </a:lnSpc>
              <a:buNone/>
            </a:pPr>
            <a:r>
              <a:rPr lang="en-US" sz="1400" kern="100" spc="-35" dirty="0">
                <a:solidFill>
                  <a:srgbClr val="000000"/>
                </a:solidFill>
                <a:latin typeface="Montserrat SemiBold" pitchFamily="34" charset="0"/>
                <a:ea typeface="Montserrat SemiBold" pitchFamily="34" charset="-122"/>
                <a:cs typeface="Montserrat SemiBold" pitchFamily="34" charset="-120"/>
              </a:rPr>
              <a:t>Power and energy data</a:t>
            </a:r>
            <a:endParaRPr lang="en-US" sz="1400" dirty="0"/>
          </a:p>
        </p:txBody>
      </p:sp>
      <p:sp>
        <p:nvSpPr>
          <p:cNvPr id="11" name="Text 8"/>
          <p:cNvSpPr/>
          <p:nvPr/>
        </p:nvSpPr>
        <p:spPr>
          <a:xfrm>
            <a:off x="1086980" y="3859320"/>
            <a:ext cx="3886831" cy="179497"/>
          </a:xfrm>
          <a:prstGeom prst="rect">
            <a:avLst/>
          </a:prstGeom>
          <a:noFill/>
          <a:ln/>
        </p:spPr>
        <p:txBody>
          <a:bodyPr wrap="none" lIns="0" tIns="0" rIns="0" bIns="0" rtlCol="0" anchor="t"/>
          <a:lstStyle/>
          <a:p>
            <a:pPr marL="0" indent="0" algn="l">
              <a:lnSpc>
                <a:spcPct val="117000"/>
              </a:lnSpc>
              <a:buNone/>
            </a:pPr>
            <a:r>
              <a:rPr lang="en-US" sz="1000" dirty="0">
                <a:solidFill>
                  <a:srgbClr val="000000"/>
                </a:solidFill>
                <a:latin typeface="Heebo Light" pitchFamily="34" charset="0"/>
                <a:ea typeface="Heebo Light" pitchFamily="34" charset="-122"/>
                <a:cs typeface="Heebo Light" pitchFamily="34" charset="-120"/>
              </a:rPr>
              <a:t>Analytics engine → anomaly detection → forecasting</a:t>
            </a:r>
            <a:endParaRPr lang="en-US" sz="1000" dirty="0"/>
          </a:p>
        </p:txBody>
      </p:sp>
      <p:sp>
        <p:nvSpPr>
          <p:cNvPr id="12" name="Text 9"/>
          <p:cNvSpPr/>
          <p:nvPr/>
        </p:nvSpPr>
        <p:spPr>
          <a:xfrm>
            <a:off x="1086980" y="4238634"/>
            <a:ext cx="3886831" cy="243476"/>
          </a:xfrm>
          <a:prstGeom prst="rect">
            <a:avLst/>
          </a:prstGeom>
          <a:noFill/>
          <a:ln/>
        </p:spPr>
        <p:txBody>
          <a:bodyPr wrap="none" lIns="0" tIns="0" rIns="0" bIns="0" rtlCol="0" anchor="t"/>
          <a:lstStyle/>
          <a:p>
            <a:pPr marL="0" indent="0" algn="l">
              <a:lnSpc>
                <a:spcPct val="113000"/>
              </a:lnSpc>
              <a:buNone/>
            </a:pPr>
            <a:r>
              <a:rPr lang="en-US" sz="1400" kern="100" spc="-35" dirty="0">
                <a:solidFill>
                  <a:srgbClr val="000000"/>
                </a:solidFill>
                <a:latin typeface="Montserrat SemiBold" pitchFamily="34" charset="0"/>
                <a:ea typeface="Montserrat SemiBold" pitchFamily="34" charset="-122"/>
                <a:cs typeface="Montserrat SemiBold" pitchFamily="34" charset="-120"/>
              </a:rPr>
              <a:t>Optimization and automation</a:t>
            </a:r>
            <a:endParaRPr lang="en-US" sz="1400" dirty="0"/>
          </a:p>
        </p:txBody>
      </p:sp>
      <p:sp>
        <p:nvSpPr>
          <p:cNvPr id="13" name="Text 10"/>
          <p:cNvSpPr/>
          <p:nvPr/>
        </p:nvSpPr>
        <p:spPr>
          <a:xfrm>
            <a:off x="1086980" y="4559047"/>
            <a:ext cx="3886831" cy="179496"/>
          </a:xfrm>
          <a:prstGeom prst="rect">
            <a:avLst/>
          </a:prstGeom>
          <a:noFill/>
          <a:ln/>
        </p:spPr>
        <p:txBody>
          <a:bodyPr wrap="none" lIns="0" tIns="0" rIns="0" bIns="0" rtlCol="0" anchor="t"/>
          <a:lstStyle/>
          <a:p>
            <a:pPr marL="0" indent="0" algn="l">
              <a:lnSpc>
                <a:spcPct val="117000"/>
              </a:lnSpc>
              <a:buNone/>
            </a:pPr>
            <a:r>
              <a:rPr lang="en-US" sz="1000" dirty="0">
                <a:solidFill>
                  <a:srgbClr val="000000"/>
                </a:solidFill>
                <a:latin typeface="Heebo Light" pitchFamily="34" charset="0"/>
                <a:ea typeface="Heebo Light" pitchFamily="34" charset="-122"/>
                <a:cs typeface="Heebo Light" pitchFamily="34" charset="-120"/>
              </a:rPr>
              <a:t>Savings measurement → utility verification</a:t>
            </a:r>
            <a:endParaRPr lang="en-US" sz="1000" dirty="0"/>
          </a:p>
        </p:txBody>
      </p:sp>
      <p:sp>
        <p:nvSpPr>
          <p:cNvPr id="14" name="Text 11"/>
          <p:cNvSpPr/>
          <p:nvPr/>
        </p:nvSpPr>
        <p:spPr>
          <a:xfrm>
            <a:off x="609585" y="5643959"/>
            <a:ext cx="10972526" cy="604441"/>
          </a:xfrm>
          <a:prstGeom prst="rect">
            <a:avLst/>
          </a:prstGeom>
          <a:noFill/>
          <a:ln/>
        </p:spPr>
        <p:txBody>
          <a:bodyPr wrap="square" lIns="0" tIns="0" rIns="0" bIns="0" rtlCol="0" anchor="t">
            <a:normAutofit/>
          </a:bodyPr>
          <a:lstStyle/>
          <a:p>
            <a:pPr marL="0" indent="0" algn="l">
              <a:lnSpc>
                <a:spcPct val="117000"/>
              </a:lnSpc>
              <a:buNone/>
            </a:pPr>
            <a:r>
              <a:rPr lang="en-US" sz="1700" dirty="0">
                <a:solidFill>
                  <a:srgbClr val="E6D9D8"/>
                </a:solidFill>
                <a:latin typeface="Heebo Light" pitchFamily="34" charset="0"/>
                <a:ea typeface="Heebo Light" pitchFamily="34" charset="-122"/>
                <a:cs typeface="Heebo Light" pitchFamily="34" charset="-120"/>
              </a:rPr>
              <a:t>Anchor hierarchy: house → room → switch box → channel → device. The utility meter remains the household-level reference.</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09600"/>
            <a:ext cx="11582110" cy="182860"/>
          </a:xfrm>
          <a:prstGeom prst="rect">
            <a:avLst/>
          </a:prstGeom>
          <a:noFill/>
          <a:ln/>
        </p:spPr>
        <p:txBody>
          <a:bodyPr wrap="none" lIns="0" tIns="0" rIns="0" bIns="0" rtlCol="0" anchor="t"/>
          <a:lstStyle/>
          <a:p>
            <a:pPr marL="0" indent="0" algn="l">
              <a:lnSpc>
                <a:spcPct val="100000"/>
              </a:lnSpc>
              <a:buNone/>
            </a:pPr>
            <a:r>
              <a:rPr lang="en-US" sz="1200" kern="100" spc="96" dirty="0">
                <a:solidFill>
                  <a:srgbClr val="C4B0B2"/>
                </a:solidFill>
                <a:latin typeface="Heebo Medium" pitchFamily="34" charset="0"/>
                <a:ea typeface="Heebo Medium" pitchFamily="34" charset="-122"/>
                <a:cs typeface="Heebo Medium" pitchFamily="34" charset="-120"/>
              </a:rPr>
              <a:t>HIERARCHICAL AGGREGATION</a:t>
            </a:r>
            <a:endParaRPr lang="en-US" sz="1200" dirty="0"/>
          </a:p>
        </p:txBody>
      </p:sp>
      <p:sp>
        <p:nvSpPr>
          <p:cNvPr id="3" name="Text 1"/>
          <p:cNvSpPr/>
          <p:nvPr/>
        </p:nvSpPr>
        <p:spPr>
          <a:xfrm>
            <a:off x="609585" y="878185"/>
            <a:ext cx="10972526" cy="457696"/>
          </a:xfrm>
          <a:prstGeom prst="rect">
            <a:avLst/>
          </a:prstGeom>
          <a:noFill/>
          <a:ln/>
        </p:spPr>
        <p:txBody>
          <a:bodyPr wrap="none" lIns="0" tIns="0" rIns="0" bIns="0" rtlCol="0" anchor="t"/>
          <a:lstStyle/>
          <a:p>
            <a:pPr marL="0" indent="0" algn="l">
              <a:lnSpc>
                <a:spcPct val="88000"/>
              </a:lnSpc>
              <a:buNone/>
            </a:pPr>
            <a:r>
              <a:rPr lang="en-US" sz="3400" kern="100" spc="-85" dirty="0">
                <a:solidFill>
                  <a:srgbClr val="FBF3F0"/>
                </a:solidFill>
                <a:latin typeface="Montserrat SemiBold" pitchFamily="34" charset="0"/>
                <a:ea typeface="Montserrat SemiBold" pitchFamily="34" charset="-122"/>
                <a:cs typeface="Montserrat SemiBold" pitchFamily="34" charset="-120"/>
              </a:rPr>
              <a:t>Every reading rolls up to one household view</a:t>
            </a:r>
            <a:endParaRPr lang="en-US" sz="3400" dirty="0"/>
          </a:p>
        </p:txBody>
      </p:sp>
      <p:sp>
        <p:nvSpPr>
          <p:cNvPr id="4" name="Shape 2"/>
          <p:cNvSpPr/>
          <p:nvPr/>
        </p:nvSpPr>
        <p:spPr>
          <a:xfrm>
            <a:off x="609585" y="1675507"/>
            <a:ext cx="3620798" cy="31651"/>
          </a:xfrm>
          <a:prstGeom prst="roundRect">
            <a:avLst>
              <a:gd name="adj" fmla="val 49998"/>
            </a:avLst>
          </a:prstGeom>
          <a:solidFill>
            <a:srgbClr val="3D2A31"/>
          </a:solidFill>
          <a:ln/>
        </p:spPr>
      </p:sp>
      <p:sp>
        <p:nvSpPr>
          <p:cNvPr id="5" name="Text 3"/>
          <p:cNvSpPr/>
          <p:nvPr/>
        </p:nvSpPr>
        <p:spPr>
          <a:xfrm>
            <a:off x="609585" y="2024856"/>
            <a:ext cx="5257668" cy="3594298"/>
          </a:xfrm>
          <a:prstGeom prst="rect">
            <a:avLst/>
          </a:prstGeom>
          <a:noFill/>
          <a:ln/>
        </p:spPr>
        <p:txBody>
          <a:bodyPr wrap="square" lIns="0" tIns="0" rIns="0" bIns="0" rtlCol="0" anchor="t">
            <a:normAutofit/>
          </a:bodyPr>
          <a:lstStyle/>
          <a:p>
            <a:pPr marL="345440" indent="-345440" algn="l">
              <a:lnSpc>
                <a:spcPct val="117000"/>
              </a:lnSpc>
              <a:buSzPct val="100000"/>
              <a:buFont typeface="+mj-lt"/>
              <a:buAutoNum type="arabicPeriod"/>
            </a:pPr>
            <a:r>
              <a:rPr lang="en-US" sz="1700" dirty="0">
                <a:solidFill>
                  <a:srgbClr val="E6D9D8"/>
                </a:solidFill>
                <a:latin typeface="Heebo Light" pitchFamily="34" charset="0"/>
                <a:ea typeface="Heebo Light" pitchFamily="34" charset="-122"/>
                <a:cs typeface="Heebo Light" pitchFamily="34" charset="-120"/>
              </a:rPr>
              <a:t>Configure the house; add rooms.</a:t>
            </a:r>
            <a:endParaRPr lang="en-US" sz="1700" dirty="0"/>
          </a:p>
          <a:p>
            <a:pPr marL="345440" indent="-345440" algn="l">
              <a:lnSpc>
                <a:spcPct val="117000"/>
              </a:lnSpc>
              <a:buSzPct val="100000"/>
              <a:buFont typeface="+mj-lt"/>
              <a:buAutoNum type="arabicPeriod" startAt="2"/>
            </a:pPr>
            <a:r>
              <a:rPr lang="en-US" sz="1700" dirty="0">
                <a:solidFill>
                  <a:srgbClr val="E6D9D8"/>
                </a:solidFill>
                <a:latin typeface="Heebo Light" pitchFamily="34" charset="0"/>
                <a:ea typeface="Heebo Light" pitchFamily="34" charset="-122"/>
                <a:cs typeface="Heebo Light" pitchFamily="34" charset="-120"/>
              </a:rPr>
              <a:t>Add switch boxes, channels, and connected devices.</a:t>
            </a:r>
            <a:endParaRPr lang="en-US" sz="1700" dirty="0"/>
          </a:p>
          <a:p>
            <a:pPr marL="345440" indent="-345440" algn="l">
              <a:lnSpc>
                <a:spcPct val="117000"/>
              </a:lnSpc>
              <a:buSzPct val="100000"/>
              <a:buFont typeface="+mj-lt"/>
              <a:buAutoNum type="arabicPeriod" startAt="3"/>
            </a:pPr>
            <a:r>
              <a:rPr lang="en-US" sz="1700" dirty="0">
                <a:solidFill>
                  <a:srgbClr val="E6D9D8"/>
                </a:solidFill>
                <a:latin typeface="Heebo Light" pitchFamily="34" charset="0"/>
                <a:ea typeface="Heebo Light" pitchFamily="34" charset="-122"/>
                <a:cs typeface="Heebo Light" pitchFamily="34" charset="-120"/>
              </a:rPr>
              <a:t>Collect voltage, current, power, and energy readings.</a:t>
            </a:r>
            <a:endParaRPr lang="en-US" sz="1700" dirty="0"/>
          </a:p>
          <a:p>
            <a:pPr marL="345440" indent="-345440" algn="l">
              <a:lnSpc>
                <a:spcPct val="117000"/>
              </a:lnSpc>
              <a:buSzPct val="100000"/>
              <a:buFont typeface="+mj-lt"/>
              <a:buAutoNum type="arabicPeriod" startAt="4"/>
            </a:pPr>
            <a:r>
              <a:rPr lang="en-US" sz="1700" dirty="0">
                <a:solidFill>
                  <a:srgbClr val="E6D9D8"/>
                </a:solidFill>
                <a:latin typeface="Heebo Light" pitchFamily="34" charset="0"/>
                <a:ea typeface="Heebo Light" pitchFamily="34" charset="-122"/>
                <a:cs typeface="Heebo Light" pitchFamily="34" charset="-120"/>
              </a:rPr>
              <a:t>Aggregate device → channel → switch box → room → house.</a:t>
            </a:r>
            <a:endParaRPr lang="en-US" sz="1700" dirty="0"/>
          </a:p>
          <a:p>
            <a:pPr marL="345440" indent="-345440" algn="l">
              <a:lnSpc>
                <a:spcPct val="117000"/>
              </a:lnSpc>
              <a:buSzPct val="100000"/>
              <a:buFont typeface="+mj-lt"/>
              <a:buAutoNum type="arabicPeriod" startAt="5"/>
            </a:pPr>
            <a:r>
              <a:rPr lang="en-US" sz="1700" dirty="0">
                <a:solidFill>
                  <a:srgbClr val="E6D9D8"/>
                </a:solidFill>
                <a:latin typeface="Heebo Light" pitchFamily="34" charset="0"/>
                <a:ea typeface="Heebo Light" pitchFamily="34" charset="-122"/>
                <a:cs typeface="Heebo Light" pitchFamily="34" charset="-120"/>
              </a:rPr>
              <a:t>Compare monitored consumption with utility-meter readings.</a:t>
            </a:r>
            <a:endParaRPr lang="en-US" sz="1700" dirty="0"/>
          </a:p>
          <a:p>
            <a:pPr marL="345440" indent="-345440" algn="l">
              <a:lnSpc>
                <a:spcPct val="117000"/>
              </a:lnSpc>
              <a:buSzPct val="100000"/>
              <a:buFont typeface="+mj-lt"/>
              <a:buAutoNum type="arabicPeriod" startAt="6"/>
            </a:pPr>
            <a:r>
              <a:rPr lang="en-US" sz="1700" dirty="0">
                <a:solidFill>
                  <a:srgbClr val="E6D9D8"/>
                </a:solidFill>
                <a:latin typeface="Heebo Light" pitchFamily="34" charset="0"/>
                <a:ea typeface="Heebo Light" pitchFamily="34" charset="-122"/>
                <a:cs typeface="Heebo Light" pitchFamily="34" charset="-120"/>
              </a:rPr>
              <a:t>Detect anomalies, apply automation, measure change, and verify savings.</a:t>
            </a:r>
            <a:endParaRPr lang="en-US" sz="1700" dirty="0"/>
          </a:p>
        </p:txBody>
      </p:sp>
      <p:sp>
        <p:nvSpPr>
          <p:cNvPr id="6" name="Text 4"/>
          <p:cNvSpPr/>
          <p:nvPr/>
        </p:nvSpPr>
        <p:spPr>
          <a:xfrm>
            <a:off x="6324442" y="2024856"/>
            <a:ext cx="5257668" cy="182860"/>
          </a:xfrm>
          <a:prstGeom prst="rect">
            <a:avLst/>
          </a:prstGeom>
          <a:noFill/>
          <a:ln/>
        </p:spPr>
        <p:txBody>
          <a:bodyPr wrap="none" lIns="0" tIns="0" rIns="0" bIns="0" rtlCol="0" anchor="t"/>
          <a:lstStyle/>
          <a:p>
            <a:pPr marL="0" indent="0" algn="l">
              <a:lnSpc>
                <a:spcPct val="100000"/>
              </a:lnSpc>
              <a:buNone/>
            </a:pPr>
            <a:r>
              <a:rPr lang="en-US" sz="1200" kern="100" spc="96" dirty="0">
                <a:solidFill>
                  <a:srgbClr val="C4B0B2"/>
                </a:solidFill>
                <a:latin typeface="Heebo Medium" pitchFamily="34" charset="0"/>
                <a:ea typeface="Heebo Medium" pitchFamily="34" charset="-122"/>
                <a:cs typeface="Heebo Medium" pitchFamily="34" charset="-120"/>
              </a:rPr>
              <a:t>BEDROOM 1 → B1-SB01</a:t>
            </a:r>
            <a:endParaRPr lang="en-US" sz="1200" dirty="0"/>
          </a:p>
        </p:txBody>
      </p:sp>
      <p:sp>
        <p:nvSpPr>
          <p:cNvPr id="7" name="Text 5"/>
          <p:cNvSpPr/>
          <p:nvPr/>
        </p:nvSpPr>
        <p:spPr>
          <a:xfrm>
            <a:off x="6324442" y="2331541"/>
            <a:ext cx="5257668" cy="302220"/>
          </a:xfrm>
          <a:prstGeom prst="rect">
            <a:avLst/>
          </a:prstGeom>
          <a:noFill/>
          <a:ln/>
        </p:spPr>
        <p:txBody>
          <a:bodyPr wrap="none" lIns="0" tIns="0" rIns="0" bIns="0" rtlCol="0" anchor="t"/>
          <a:lstStyle/>
          <a:p>
            <a:pPr marL="0" indent="0" algn="l">
              <a:lnSpc>
                <a:spcPct val="117000"/>
              </a:lnSpc>
              <a:buNone/>
            </a:pPr>
            <a:r>
              <a:rPr lang="en-US" sz="1700" dirty="0">
                <a:solidFill>
                  <a:srgbClr val="E6D9D8"/>
                </a:solidFill>
                <a:latin typeface="Heebo Light" pitchFamily="34" charset="0"/>
                <a:ea typeface="Heebo Light" pitchFamily="34" charset="-122"/>
                <a:cs typeface="Heebo Light" pitchFamily="34" charset="-120"/>
              </a:rPr>
              <a:t>Connected devices · illustrative readings</a:t>
            </a:r>
            <a:endParaRPr lang="en-US" sz="1700" dirty="0"/>
          </a:p>
        </p:txBody>
      </p:sp>
      <p:sp>
        <p:nvSpPr>
          <p:cNvPr id="8" name="Text 6"/>
          <p:cNvSpPr/>
          <p:nvPr/>
        </p:nvSpPr>
        <p:spPr>
          <a:xfrm>
            <a:off x="6324442" y="2757587"/>
            <a:ext cx="2552636" cy="328116"/>
          </a:xfrm>
          <a:prstGeom prst="rect">
            <a:avLst/>
          </a:prstGeom>
          <a:noFill/>
          <a:ln/>
        </p:spPr>
        <p:txBody>
          <a:bodyPr wrap="none" lIns="0" tIns="0" rIns="0" bIns="0" rtlCol="0" anchor="t"/>
          <a:lstStyle/>
          <a:p>
            <a:pPr marL="0" indent="0" algn="l">
              <a:lnSpc>
                <a:spcPct val="113000"/>
              </a:lnSpc>
              <a:buNone/>
            </a:pPr>
            <a:r>
              <a:rPr lang="en-US" sz="1900" kern="100" spc="-47" dirty="0">
                <a:solidFill>
                  <a:srgbClr val="E6D9D8"/>
                </a:solidFill>
                <a:latin typeface="Montserrat Medium" pitchFamily="34" charset="0"/>
                <a:ea typeface="Montserrat Medium" pitchFamily="34" charset="-122"/>
                <a:cs typeface="Montserrat Medium" pitchFamily="34" charset="-120"/>
              </a:rPr>
              <a:t>AC</a:t>
            </a:r>
            <a:endParaRPr lang="en-US" sz="1900" dirty="0"/>
          </a:p>
        </p:txBody>
      </p:sp>
      <p:sp>
        <p:nvSpPr>
          <p:cNvPr id="9" name="Text 7"/>
          <p:cNvSpPr/>
          <p:nvPr/>
        </p:nvSpPr>
        <p:spPr>
          <a:xfrm>
            <a:off x="6324442" y="3238103"/>
            <a:ext cx="2552636" cy="302220"/>
          </a:xfrm>
          <a:prstGeom prst="rect">
            <a:avLst/>
          </a:prstGeom>
          <a:noFill/>
          <a:ln/>
        </p:spPr>
        <p:txBody>
          <a:bodyPr wrap="none" lIns="0" tIns="0" rIns="0" bIns="0" rtlCol="0" anchor="t"/>
          <a:lstStyle/>
          <a:p>
            <a:pPr marL="0" indent="0" algn="l">
              <a:lnSpc>
                <a:spcPct val="117000"/>
              </a:lnSpc>
              <a:buNone/>
            </a:pPr>
            <a:r>
              <a:rPr lang="en-US" sz="1700" dirty="0">
                <a:solidFill>
                  <a:srgbClr val="E6D9D8"/>
                </a:solidFill>
                <a:latin typeface="Heebo Light" pitchFamily="34" charset="0"/>
                <a:ea typeface="Heebo Light" pitchFamily="34" charset="-122"/>
                <a:cs typeface="Heebo Light" pitchFamily="34" charset="-120"/>
              </a:rPr>
              <a:t>1.82 kW</a:t>
            </a:r>
            <a:endParaRPr lang="en-US" sz="1700" dirty="0"/>
          </a:p>
        </p:txBody>
      </p:sp>
      <p:sp>
        <p:nvSpPr>
          <p:cNvPr id="10" name="Text 8"/>
          <p:cNvSpPr/>
          <p:nvPr/>
        </p:nvSpPr>
        <p:spPr>
          <a:xfrm>
            <a:off x="9029474" y="2757587"/>
            <a:ext cx="2552636" cy="328116"/>
          </a:xfrm>
          <a:prstGeom prst="rect">
            <a:avLst/>
          </a:prstGeom>
          <a:noFill/>
          <a:ln/>
        </p:spPr>
        <p:txBody>
          <a:bodyPr wrap="none" lIns="0" tIns="0" rIns="0" bIns="0" rtlCol="0" anchor="t"/>
          <a:lstStyle/>
          <a:p>
            <a:pPr marL="0" indent="0" algn="l">
              <a:lnSpc>
                <a:spcPct val="113000"/>
              </a:lnSpc>
              <a:buNone/>
            </a:pPr>
            <a:r>
              <a:rPr lang="en-US" sz="1900" kern="100" spc="-47" dirty="0">
                <a:solidFill>
                  <a:srgbClr val="E6D9D8"/>
                </a:solidFill>
                <a:latin typeface="Montserrat Medium" pitchFamily="34" charset="0"/>
                <a:ea typeface="Montserrat Medium" pitchFamily="34" charset="-122"/>
                <a:cs typeface="Montserrat Medium" pitchFamily="34" charset="-120"/>
              </a:rPr>
              <a:t>Fan</a:t>
            </a:r>
            <a:endParaRPr lang="en-US" sz="1900" dirty="0"/>
          </a:p>
        </p:txBody>
      </p:sp>
      <p:sp>
        <p:nvSpPr>
          <p:cNvPr id="11" name="Text 9"/>
          <p:cNvSpPr/>
          <p:nvPr/>
        </p:nvSpPr>
        <p:spPr>
          <a:xfrm>
            <a:off x="9029474" y="3238103"/>
            <a:ext cx="2552636" cy="302220"/>
          </a:xfrm>
          <a:prstGeom prst="rect">
            <a:avLst/>
          </a:prstGeom>
          <a:noFill/>
          <a:ln/>
        </p:spPr>
        <p:txBody>
          <a:bodyPr wrap="none" lIns="0" tIns="0" rIns="0" bIns="0" rtlCol="0" anchor="t"/>
          <a:lstStyle/>
          <a:p>
            <a:pPr marL="0" indent="0" algn="l">
              <a:lnSpc>
                <a:spcPct val="117000"/>
              </a:lnSpc>
              <a:buNone/>
            </a:pPr>
            <a:r>
              <a:rPr lang="en-US" sz="1700" dirty="0">
                <a:solidFill>
                  <a:srgbClr val="E6D9D8"/>
                </a:solidFill>
                <a:latin typeface="Heebo Light" pitchFamily="34" charset="0"/>
                <a:ea typeface="Heebo Light" pitchFamily="34" charset="-122"/>
                <a:cs typeface="Heebo Light" pitchFamily="34" charset="-120"/>
              </a:rPr>
              <a:t>0.32 kW</a:t>
            </a:r>
            <a:endParaRPr lang="en-US" sz="1700" dirty="0"/>
          </a:p>
        </p:txBody>
      </p:sp>
      <p:sp>
        <p:nvSpPr>
          <p:cNvPr id="12" name="Text 10"/>
          <p:cNvSpPr/>
          <p:nvPr/>
        </p:nvSpPr>
        <p:spPr>
          <a:xfrm>
            <a:off x="6324442" y="3692723"/>
            <a:ext cx="2552636" cy="328116"/>
          </a:xfrm>
          <a:prstGeom prst="rect">
            <a:avLst/>
          </a:prstGeom>
          <a:noFill/>
          <a:ln/>
        </p:spPr>
        <p:txBody>
          <a:bodyPr wrap="none" lIns="0" tIns="0" rIns="0" bIns="0" rtlCol="0" anchor="t"/>
          <a:lstStyle/>
          <a:p>
            <a:pPr marL="0" indent="0" algn="l">
              <a:lnSpc>
                <a:spcPct val="113000"/>
              </a:lnSpc>
              <a:buNone/>
            </a:pPr>
            <a:r>
              <a:rPr lang="en-US" sz="1900" kern="100" spc="-47" dirty="0">
                <a:solidFill>
                  <a:srgbClr val="E6D9D8"/>
                </a:solidFill>
                <a:latin typeface="Montserrat Medium" pitchFamily="34" charset="0"/>
                <a:ea typeface="Montserrat Medium" pitchFamily="34" charset="-122"/>
                <a:cs typeface="Montserrat Medium" pitchFamily="34" charset="-120"/>
              </a:rPr>
              <a:t>Light</a:t>
            </a:r>
            <a:endParaRPr lang="en-US" sz="1900" dirty="0"/>
          </a:p>
        </p:txBody>
      </p:sp>
      <p:sp>
        <p:nvSpPr>
          <p:cNvPr id="13" name="Text 11"/>
          <p:cNvSpPr/>
          <p:nvPr/>
        </p:nvSpPr>
        <p:spPr>
          <a:xfrm>
            <a:off x="6324442" y="4173240"/>
            <a:ext cx="2552636" cy="302220"/>
          </a:xfrm>
          <a:prstGeom prst="rect">
            <a:avLst/>
          </a:prstGeom>
          <a:noFill/>
          <a:ln/>
        </p:spPr>
        <p:txBody>
          <a:bodyPr wrap="none" lIns="0" tIns="0" rIns="0" bIns="0" rtlCol="0" anchor="t"/>
          <a:lstStyle/>
          <a:p>
            <a:pPr marL="0" indent="0" algn="l">
              <a:lnSpc>
                <a:spcPct val="117000"/>
              </a:lnSpc>
              <a:buNone/>
            </a:pPr>
            <a:r>
              <a:rPr lang="en-US" sz="1700" dirty="0">
                <a:solidFill>
                  <a:srgbClr val="E6D9D8"/>
                </a:solidFill>
                <a:latin typeface="Heebo Light" pitchFamily="34" charset="0"/>
                <a:ea typeface="Heebo Light" pitchFamily="34" charset="-122"/>
                <a:cs typeface="Heebo Light" pitchFamily="34" charset="-120"/>
              </a:rPr>
              <a:t>0.12 kW</a:t>
            </a:r>
            <a:endParaRPr lang="en-US" sz="1700" dirty="0"/>
          </a:p>
        </p:txBody>
      </p:sp>
      <p:sp>
        <p:nvSpPr>
          <p:cNvPr id="14" name="Text 12"/>
          <p:cNvSpPr/>
          <p:nvPr/>
        </p:nvSpPr>
        <p:spPr>
          <a:xfrm>
            <a:off x="9029474" y="3692723"/>
            <a:ext cx="2552636" cy="328116"/>
          </a:xfrm>
          <a:prstGeom prst="rect">
            <a:avLst/>
          </a:prstGeom>
          <a:noFill/>
          <a:ln/>
        </p:spPr>
        <p:txBody>
          <a:bodyPr wrap="none" lIns="0" tIns="0" rIns="0" bIns="0" rtlCol="0" anchor="t"/>
          <a:lstStyle/>
          <a:p>
            <a:pPr marL="0" indent="0" algn="l">
              <a:lnSpc>
                <a:spcPct val="113000"/>
              </a:lnSpc>
              <a:buNone/>
            </a:pPr>
            <a:r>
              <a:rPr lang="en-US" sz="1900" kern="100" spc="-47" dirty="0">
                <a:solidFill>
                  <a:srgbClr val="E6D9D8"/>
                </a:solidFill>
                <a:latin typeface="Montserrat Medium" pitchFamily="34" charset="0"/>
                <a:ea typeface="Montserrat Medium" pitchFamily="34" charset="-122"/>
                <a:cs typeface="Montserrat Medium" pitchFamily="34" charset="-120"/>
              </a:rPr>
              <a:t>TV</a:t>
            </a:r>
            <a:endParaRPr lang="en-US" sz="1900" dirty="0"/>
          </a:p>
        </p:txBody>
      </p:sp>
      <p:sp>
        <p:nvSpPr>
          <p:cNvPr id="15" name="Text 13"/>
          <p:cNvSpPr/>
          <p:nvPr/>
        </p:nvSpPr>
        <p:spPr>
          <a:xfrm>
            <a:off x="9029474" y="4173240"/>
            <a:ext cx="2552636" cy="302220"/>
          </a:xfrm>
          <a:prstGeom prst="rect">
            <a:avLst/>
          </a:prstGeom>
          <a:noFill/>
          <a:ln/>
        </p:spPr>
        <p:txBody>
          <a:bodyPr wrap="none" lIns="0" tIns="0" rIns="0" bIns="0" rtlCol="0" anchor="t"/>
          <a:lstStyle/>
          <a:p>
            <a:pPr marL="0" indent="0" algn="l">
              <a:lnSpc>
                <a:spcPct val="117000"/>
              </a:lnSpc>
              <a:buNone/>
            </a:pPr>
            <a:r>
              <a:rPr lang="en-US" sz="1700" dirty="0">
                <a:solidFill>
                  <a:srgbClr val="E6D9D8"/>
                </a:solidFill>
                <a:latin typeface="Heebo Light" pitchFamily="34" charset="0"/>
                <a:ea typeface="Heebo Light" pitchFamily="34" charset="-122"/>
                <a:cs typeface="Heebo Light" pitchFamily="34" charset="-120"/>
              </a:rPr>
              <a:t>0.08 kW</a:t>
            </a:r>
            <a:endParaRPr lang="en-US" sz="1700" dirty="0"/>
          </a:p>
        </p:txBody>
      </p:sp>
      <p:sp>
        <p:nvSpPr>
          <p:cNvPr id="16" name="Text 14"/>
          <p:cNvSpPr/>
          <p:nvPr/>
        </p:nvSpPr>
        <p:spPr>
          <a:xfrm>
            <a:off x="6324442" y="4665960"/>
            <a:ext cx="5257668" cy="633909"/>
          </a:xfrm>
          <a:prstGeom prst="rect">
            <a:avLst/>
          </a:prstGeom>
          <a:noFill/>
          <a:ln/>
        </p:spPr>
        <p:txBody>
          <a:bodyPr wrap="none" lIns="0" tIns="0" rIns="0" bIns="0" rtlCol="0" anchor="t"/>
          <a:lstStyle/>
          <a:p>
            <a:pPr marL="0" indent="0" algn="l">
              <a:lnSpc>
                <a:spcPct val="80000"/>
              </a:lnSpc>
              <a:buNone/>
            </a:pPr>
            <a:r>
              <a:rPr lang="en-US" sz="5200" kern="100" spc="-182" dirty="0">
                <a:solidFill>
                  <a:srgbClr val="FF5A7A"/>
                </a:solidFill>
                <a:latin typeface="Montserrat SemiBold" pitchFamily="34" charset="0"/>
                <a:ea typeface="Montserrat SemiBold" pitchFamily="34" charset="-122"/>
                <a:cs typeface="Montserrat SemiBold" pitchFamily="34" charset="-120"/>
              </a:rPr>
              <a:t>2.34</a:t>
            </a:r>
            <a:r>
              <a:rPr lang="en-US" sz="2000" kern="100" spc="-182" dirty="0">
                <a:solidFill>
                  <a:srgbClr val="FF5A7A"/>
                </a:solidFill>
                <a:latin typeface="Montserrat SemiBold" pitchFamily="34" charset="0"/>
                <a:ea typeface="Montserrat SemiBold" pitchFamily="34" charset="-122"/>
                <a:cs typeface="Montserrat SemiBold" pitchFamily="34" charset="-120"/>
              </a:rPr>
              <a:t> kW</a:t>
            </a:r>
            <a:endParaRPr lang="en-US" sz="5200" dirty="0"/>
          </a:p>
        </p:txBody>
      </p:sp>
      <p:sp>
        <p:nvSpPr>
          <p:cNvPr id="17" name="Text 15"/>
          <p:cNvSpPr/>
          <p:nvPr/>
        </p:nvSpPr>
        <p:spPr>
          <a:xfrm>
            <a:off x="6324442" y="5512594"/>
            <a:ext cx="5257668" cy="604441"/>
          </a:xfrm>
          <a:prstGeom prst="rect">
            <a:avLst/>
          </a:prstGeom>
          <a:noFill/>
          <a:ln/>
        </p:spPr>
        <p:txBody>
          <a:bodyPr wrap="square" lIns="0" tIns="0" rIns="0" bIns="0" rtlCol="0" anchor="t">
            <a:normAutofit/>
          </a:bodyPr>
          <a:lstStyle/>
          <a:p>
            <a:pPr marL="0" indent="0" algn="l">
              <a:lnSpc>
                <a:spcPct val="117000"/>
              </a:lnSpc>
              <a:buNone/>
            </a:pPr>
            <a:r>
              <a:rPr lang="en-US" sz="1700" dirty="0">
                <a:solidFill>
                  <a:srgbClr val="E6D9D8"/>
                </a:solidFill>
                <a:latin typeface="Heebo Light" pitchFamily="34" charset="0"/>
                <a:ea typeface="Heebo Light" pitchFamily="34" charset="-122"/>
                <a:cs typeface="Heebo Light" pitchFamily="34" charset="-120"/>
              </a:rPr>
              <a:t>When TV turns off, total becomes </a:t>
            </a:r>
            <a:r>
              <a:rPr lang="en-US" sz="1700" b="1" dirty="0">
                <a:solidFill>
                  <a:srgbClr val="E6D9D8"/>
                </a:solidFill>
                <a:latin typeface="Heebo Bold" pitchFamily="34" charset="0"/>
                <a:ea typeface="Heebo Bold" pitchFamily="34" charset="-122"/>
                <a:cs typeface="Heebo Bold" pitchFamily="34" charset="-120"/>
              </a:rPr>
              <a:t>2.26 kW</a:t>
            </a:r>
            <a:r>
              <a:rPr lang="en-US" sz="1700" dirty="0">
                <a:solidFill>
                  <a:srgbClr val="E6D9D8"/>
                </a:solidFill>
                <a:latin typeface="Heebo Light" pitchFamily="34" charset="0"/>
                <a:ea typeface="Heebo Light" pitchFamily="34" charset="-122"/>
                <a:cs typeface="Heebo Light" pitchFamily="34" charset="-120"/>
              </a:rPr>
              <a:t>; the change propagates to room and house totals.</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09600"/>
            <a:ext cx="11582110" cy="182860"/>
          </a:xfrm>
          <a:prstGeom prst="rect">
            <a:avLst/>
          </a:prstGeom>
          <a:noFill/>
          <a:ln/>
        </p:spPr>
        <p:txBody>
          <a:bodyPr wrap="none" lIns="0" tIns="0" rIns="0" bIns="0" rtlCol="0" anchor="t"/>
          <a:lstStyle/>
          <a:p>
            <a:pPr marL="0" indent="0" algn="l">
              <a:lnSpc>
                <a:spcPct val="100000"/>
              </a:lnSpc>
              <a:buNone/>
            </a:pPr>
            <a:r>
              <a:rPr lang="en-US" sz="1200" kern="100" spc="96" dirty="0">
                <a:solidFill>
                  <a:srgbClr val="C4B0B2"/>
                </a:solidFill>
                <a:latin typeface="Heebo Medium" pitchFamily="34" charset="0"/>
                <a:ea typeface="Heebo Medium" pitchFamily="34" charset="-122"/>
                <a:cs typeface="Heebo Medium" pitchFamily="34" charset="-120"/>
              </a:rPr>
              <a:t>OPERATING CAPABILITIES</a:t>
            </a:r>
            <a:endParaRPr lang="en-US" sz="1200" dirty="0"/>
          </a:p>
        </p:txBody>
      </p:sp>
      <p:sp>
        <p:nvSpPr>
          <p:cNvPr id="3" name="Text 1"/>
          <p:cNvSpPr/>
          <p:nvPr/>
        </p:nvSpPr>
        <p:spPr>
          <a:xfrm>
            <a:off x="609585" y="878185"/>
            <a:ext cx="10972526" cy="457696"/>
          </a:xfrm>
          <a:prstGeom prst="rect">
            <a:avLst/>
          </a:prstGeom>
          <a:noFill/>
          <a:ln/>
        </p:spPr>
        <p:txBody>
          <a:bodyPr wrap="none" lIns="0" tIns="0" rIns="0" bIns="0" rtlCol="0" anchor="t"/>
          <a:lstStyle/>
          <a:p>
            <a:pPr marL="0" indent="0" algn="l">
              <a:lnSpc>
                <a:spcPct val="88000"/>
              </a:lnSpc>
              <a:buNone/>
            </a:pPr>
            <a:r>
              <a:rPr lang="en-US" sz="3400" kern="100" spc="-85" dirty="0">
                <a:solidFill>
                  <a:srgbClr val="FBF3F0"/>
                </a:solidFill>
                <a:latin typeface="Montserrat SemiBold" pitchFamily="34" charset="0"/>
                <a:ea typeface="Montserrat SemiBold" pitchFamily="34" charset="-122"/>
                <a:cs typeface="Montserrat SemiBold" pitchFamily="34" charset="-120"/>
              </a:rPr>
              <a:t>Monitor, analyze, control, learn</a:t>
            </a:r>
            <a:endParaRPr lang="en-US" sz="3400" dirty="0"/>
          </a:p>
        </p:txBody>
      </p:sp>
      <p:sp>
        <p:nvSpPr>
          <p:cNvPr id="4" name="Shape 2"/>
          <p:cNvSpPr/>
          <p:nvPr/>
        </p:nvSpPr>
        <p:spPr>
          <a:xfrm>
            <a:off x="609585" y="1675507"/>
            <a:ext cx="10972526" cy="31651"/>
          </a:xfrm>
          <a:prstGeom prst="roundRect">
            <a:avLst>
              <a:gd name="adj" fmla="val 49998"/>
            </a:avLst>
          </a:prstGeom>
          <a:solidFill>
            <a:srgbClr val="3D2A31"/>
          </a:solidFill>
          <a:ln/>
        </p:spPr>
      </p:sp>
      <p:sp>
        <p:nvSpPr>
          <p:cNvPr id="5" name="Shape 3"/>
          <p:cNvSpPr/>
          <p:nvPr/>
        </p:nvSpPr>
        <p:spPr>
          <a:xfrm>
            <a:off x="609585" y="2024856"/>
            <a:ext cx="5333867" cy="1554857"/>
          </a:xfrm>
          <a:prstGeom prst="rect">
            <a:avLst/>
          </a:prstGeom>
          <a:solidFill>
            <a:srgbClr val="1F1016"/>
          </a:solidFill>
          <a:ln w="6350">
            <a:solidFill>
              <a:srgbClr val="3D2A31"/>
            </a:solidFill>
            <a:prstDash val="solid"/>
          </a:ln>
        </p:spPr>
      </p:sp>
      <p:sp>
        <p:nvSpPr>
          <p:cNvPr id="6" name="Text 4"/>
          <p:cNvSpPr/>
          <p:nvPr/>
        </p:nvSpPr>
        <p:spPr>
          <a:xfrm>
            <a:off x="819130" y="2259806"/>
            <a:ext cx="4914777" cy="328116"/>
          </a:xfrm>
          <a:prstGeom prst="rect">
            <a:avLst/>
          </a:prstGeom>
          <a:noFill/>
          <a:ln/>
        </p:spPr>
        <p:txBody>
          <a:bodyPr wrap="none" lIns="0" tIns="0" rIns="0" bIns="0" rtlCol="0" anchor="t"/>
          <a:lstStyle/>
          <a:p>
            <a:pPr marL="0" indent="0" algn="l">
              <a:lnSpc>
                <a:spcPct val="113000"/>
              </a:lnSpc>
              <a:buNone/>
            </a:pPr>
            <a:r>
              <a:rPr lang="en-US" sz="1900" kern="100" spc="-47" dirty="0">
                <a:solidFill>
                  <a:srgbClr val="E6D9D8"/>
                </a:solidFill>
                <a:latin typeface="Montserrat Medium" pitchFamily="34" charset="0"/>
                <a:ea typeface="Montserrat Medium" pitchFamily="34" charset="-122"/>
                <a:cs typeface="Montserrat Medium" pitchFamily="34" charset="-120"/>
              </a:rPr>
              <a:t>Monitor</a:t>
            </a:r>
            <a:endParaRPr lang="en-US" sz="1900" dirty="0"/>
          </a:p>
        </p:txBody>
      </p:sp>
      <p:sp>
        <p:nvSpPr>
          <p:cNvPr id="7" name="Text 5"/>
          <p:cNvSpPr/>
          <p:nvPr/>
        </p:nvSpPr>
        <p:spPr>
          <a:xfrm>
            <a:off x="819130" y="2740323"/>
            <a:ext cx="4914777" cy="604441"/>
          </a:xfrm>
          <a:prstGeom prst="rect">
            <a:avLst/>
          </a:prstGeom>
          <a:noFill/>
          <a:ln/>
        </p:spPr>
        <p:txBody>
          <a:bodyPr wrap="square" lIns="0" tIns="0" rIns="0" bIns="0" rtlCol="0" anchor="t">
            <a:normAutofit/>
          </a:bodyPr>
          <a:lstStyle/>
          <a:p>
            <a:pPr marL="0" indent="0" algn="l">
              <a:lnSpc>
                <a:spcPct val="117000"/>
              </a:lnSpc>
              <a:buNone/>
            </a:pPr>
            <a:r>
              <a:rPr lang="en-US" sz="1700" dirty="0">
                <a:solidFill>
                  <a:srgbClr val="E6D9D8"/>
                </a:solidFill>
                <a:latin typeface="Heebo Light" pitchFamily="34" charset="0"/>
                <a:ea typeface="Heebo Light" pitchFamily="34" charset="-122"/>
                <a:cs typeface="Heebo Light" pitchFamily="34" charset="-120"/>
              </a:rPr>
              <a:t>Power, energy, voltage, current, power factor, temperature, peak demand.</a:t>
            </a:r>
            <a:endParaRPr lang="en-US" sz="1700" dirty="0"/>
          </a:p>
        </p:txBody>
      </p:sp>
      <p:sp>
        <p:nvSpPr>
          <p:cNvPr id="8" name="Shape 6"/>
          <p:cNvSpPr/>
          <p:nvPr/>
        </p:nvSpPr>
        <p:spPr>
          <a:xfrm>
            <a:off x="6248244" y="2024856"/>
            <a:ext cx="5333867" cy="1554857"/>
          </a:xfrm>
          <a:prstGeom prst="rect">
            <a:avLst/>
          </a:prstGeom>
          <a:solidFill>
            <a:srgbClr val="1F1016"/>
          </a:solidFill>
          <a:ln w="6350">
            <a:solidFill>
              <a:srgbClr val="3D2A31"/>
            </a:solidFill>
            <a:prstDash val="solid"/>
          </a:ln>
        </p:spPr>
      </p:sp>
      <p:sp>
        <p:nvSpPr>
          <p:cNvPr id="9" name="Text 7"/>
          <p:cNvSpPr/>
          <p:nvPr/>
        </p:nvSpPr>
        <p:spPr>
          <a:xfrm>
            <a:off x="6457788" y="2259806"/>
            <a:ext cx="4914777" cy="328116"/>
          </a:xfrm>
          <a:prstGeom prst="rect">
            <a:avLst/>
          </a:prstGeom>
          <a:noFill/>
          <a:ln/>
        </p:spPr>
        <p:txBody>
          <a:bodyPr wrap="none" lIns="0" tIns="0" rIns="0" bIns="0" rtlCol="0" anchor="t"/>
          <a:lstStyle/>
          <a:p>
            <a:pPr marL="0" indent="0" algn="l">
              <a:lnSpc>
                <a:spcPct val="113000"/>
              </a:lnSpc>
              <a:buNone/>
            </a:pPr>
            <a:r>
              <a:rPr lang="en-US" sz="1900" kern="100" spc="-47" dirty="0">
                <a:solidFill>
                  <a:srgbClr val="E6D9D8"/>
                </a:solidFill>
                <a:latin typeface="Montserrat Medium" pitchFamily="34" charset="0"/>
                <a:ea typeface="Montserrat Medium" pitchFamily="34" charset="-122"/>
                <a:cs typeface="Montserrat Medium" pitchFamily="34" charset="-120"/>
              </a:rPr>
              <a:t>Analyze</a:t>
            </a:r>
            <a:endParaRPr lang="en-US" sz="1900" dirty="0"/>
          </a:p>
        </p:txBody>
      </p:sp>
      <p:sp>
        <p:nvSpPr>
          <p:cNvPr id="10" name="Text 8"/>
          <p:cNvSpPr/>
          <p:nvPr/>
        </p:nvSpPr>
        <p:spPr>
          <a:xfrm>
            <a:off x="6457788" y="2740323"/>
            <a:ext cx="4914777" cy="604441"/>
          </a:xfrm>
          <a:prstGeom prst="rect">
            <a:avLst/>
          </a:prstGeom>
          <a:noFill/>
          <a:ln/>
        </p:spPr>
        <p:txBody>
          <a:bodyPr wrap="square" lIns="0" tIns="0" rIns="0" bIns="0" rtlCol="0" anchor="t">
            <a:normAutofit/>
          </a:bodyPr>
          <a:lstStyle/>
          <a:p>
            <a:pPr marL="0" indent="0" algn="l">
              <a:lnSpc>
                <a:spcPct val="117000"/>
              </a:lnSpc>
              <a:buNone/>
            </a:pPr>
            <a:r>
              <a:rPr lang="en-US" sz="1700" dirty="0">
                <a:solidFill>
                  <a:srgbClr val="E6D9D8"/>
                </a:solidFill>
                <a:latin typeface="Heebo Light" pitchFamily="34" charset="0"/>
                <a:ea typeface="Heebo Light" pitchFamily="34" charset="-122"/>
                <a:cs typeface="Heebo Light" pitchFamily="34" charset="-120"/>
              </a:rPr>
              <a:t>Room trends, switch-box analytics, device comparison, cost, utility reconciliation.</a:t>
            </a:r>
            <a:endParaRPr lang="en-US" sz="1700" dirty="0"/>
          </a:p>
        </p:txBody>
      </p:sp>
      <p:sp>
        <p:nvSpPr>
          <p:cNvPr id="11" name="Shape 9"/>
          <p:cNvSpPr/>
          <p:nvPr/>
        </p:nvSpPr>
        <p:spPr>
          <a:xfrm>
            <a:off x="609585" y="3884513"/>
            <a:ext cx="5333867" cy="1857077"/>
          </a:xfrm>
          <a:prstGeom prst="rect">
            <a:avLst/>
          </a:prstGeom>
          <a:solidFill>
            <a:srgbClr val="1F1016"/>
          </a:solidFill>
          <a:ln w="6350">
            <a:solidFill>
              <a:srgbClr val="3D2A31"/>
            </a:solidFill>
            <a:prstDash val="solid"/>
          </a:ln>
        </p:spPr>
      </p:sp>
      <p:sp>
        <p:nvSpPr>
          <p:cNvPr id="12" name="Text 10"/>
          <p:cNvSpPr/>
          <p:nvPr/>
        </p:nvSpPr>
        <p:spPr>
          <a:xfrm>
            <a:off x="819130" y="4119463"/>
            <a:ext cx="4914777" cy="328116"/>
          </a:xfrm>
          <a:prstGeom prst="rect">
            <a:avLst/>
          </a:prstGeom>
          <a:noFill/>
          <a:ln/>
        </p:spPr>
        <p:txBody>
          <a:bodyPr wrap="none" lIns="0" tIns="0" rIns="0" bIns="0" rtlCol="0" anchor="t"/>
          <a:lstStyle/>
          <a:p>
            <a:pPr marL="0" indent="0" algn="l">
              <a:lnSpc>
                <a:spcPct val="113000"/>
              </a:lnSpc>
              <a:buNone/>
            </a:pPr>
            <a:r>
              <a:rPr lang="en-US" sz="1900" kern="100" spc="-47" dirty="0">
                <a:solidFill>
                  <a:srgbClr val="E6D9D8"/>
                </a:solidFill>
                <a:latin typeface="Montserrat Medium" pitchFamily="34" charset="0"/>
                <a:ea typeface="Montserrat Medium" pitchFamily="34" charset="-122"/>
                <a:cs typeface="Montserrat Medium" pitchFamily="34" charset="-120"/>
              </a:rPr>
              <a:t>AI</a:t>
            </a:r>
            <a:endParaRPr lang="en-US" sz="1900" dirty="0"/>
          </a:p>
        </p:txBody>
      </p:sp>
      <p:sp>
        <p:nvSpPr>
          <p:cNvPr id="13" name="Text 11"/>
          <p:cNvSpPr/>
          <p:nvPr/>
        </p:nvSpPr>
        <p:spPr>
          <a:xfrm>
            <a:off x="819130" y="4599980"/>
            <a:ext cx="4914777" cy="906661"/>
          </a:xfrm>
          <a:prstGeom prst="rect">
            <a:avLst/>
          </a:prstGeom>
          <a:noFill/>
          <a:ln/>
        </p:spPr>
        <p:txBody>
          <a:bodyPr wrap="square" lIns="0" tIns="0" rIns="0" bIns="0" rtlCol="0" anchor="t">
            <a:normAutofit/>
          </a:bodyPr>
          <a:lstStyle/>
          <a:p>
            <a:pPr marL="0" indent="0" algn="l">
              <a:lnSpc>
                <a:spcPct val="117000"/>
              </a:lnSpc>
              <a:buNone/>
            </a:pPr>
            <a:r>
              <a:rPr lang="en-US" sz="1700" dirty="0">
                <a:solidFill>
                  <a:srgbClr val="E6D9D8"/>
                </a:solidFill>
                <a:latin typeface="Heebo Light" pitchFamily="34" charset="0"/>
                <a:ea typeface="Heebo Light" pitchFamily="34" charset="-122"/>
                <a:cs typeface="Heebo Light" pitchFamily="34" charset="-120"/>
              </a:rPr>
              <a:t>Anomaly detection, consumption forecasting, peak-demand forecasting, recommendations, Energy Copilot.</a:t>
            </a:r>
            <a:endParaRPr lang="en-US" sz="1700" dirty="0"/>
          </a:p>
        </p:txBody>
      </p:sp>
      <p:sp>
        <p:nvSpPr>
          <p:cNvPr id="14" name="Shape 12"/>
          <p:cNvSpPr/>
          <p:nvPr/>
        </p:nvSpPr>
        <p:spPr>
          <a:xfrm>
            <a:off x="6248244" y="3884513"/>
            <a:ext cx="5333867" cy="1857077"/>
          </a:xfrm>
          <a:prstGeom prst="rect">
            <a:avLst/>
          </a:prstGeom>
          <a:solidFill>
            <a:srgbClr val="1F1016"/>
          </a:solidFill>
          <a:ln w="6350">
            <a:solidFill>
              <a:srgbClr val="3D2A31"/>
            </a:solidFill>
            <a:prstDash val="solid"/>
          </a:ln>
        </p:spPr>
      </p:sp>
      <p:sp>
        <p:nvSpPr>
          <p:cNvPr id="15" name="Text 13"/>
          <p:cNvSpPr/>
          <p:nvPr/>
        </p:nvSpPr>
        <p:spPr>
          <a:xfrm>
            <a:off x="6457788" y="4119463"/>
            <a:ext cx="4914777" cy="328116"/>
          </a:xfrm>
          <a:prstGeom prst="rect">
            <a:avLst/>
          </a:prstGeom>
          <a:noFill/>
          <a:ln/>
        </p:spPr>
        <p:txBody>
          <a:bodyPr wrap="none" lIns="0" tIns="0" rIns="0" bIns="0" rtlCol="0" anchor="t"/>
          <a:lstStyle/>
          <a:p>
            <a:pPr marL="0" indent="0" algn="l">
              <a:lnSpc>
                <a:spcPct val="113000"/>
              </a:lnSpc>
              <a:buNone/>
            </a:pPr>
            <a:r>
              <a:rPr lang="en-US" sz="1900" kern="100" spc="-47" dirty="0">
                <a:solidFill>
                  <a:srgbClr val="E6D9D8"/>
                </a:solidFill>
                <a:latin typeface="Montserrat Medium" pitchFamily="34" charset="0"/>
                <a:ea typeface="Montserrat Medium" pitchFamily="34" charset="-122"/>
                <a:cs typeface="Montserrat Medium" pitchFamily="34" charset="-120"/>
              </a:rPr>
              <a:t>Control</a:t>
            </a:r>
            <a:endParaRPr lang="en-US" sz="1900" dirty="0"/>
          </a:p>
        </p:txBody>
      </p:sp>
      <p:sp>
        <p:nvSpPr>
          <p:cNvPr id="16" name="Text 14"/>
          <p:cNvSpPr/>
          <p:nvPr/>
        </p:nvSpPr>
        <p:spPr>
          <a:xfrm>
            <a:off x="6457788" y="4599980"/>
            <a:ext cx="4914777" cy="604441"/>
          </a:xfrm>
          <a:prstGeom prst="rect">
            <a:avLst/>
          </a:prstGeom>
          <a:noFill/>
          <a:ln/>
        </p:spPr>
        <p:txBody>
          <a:bodyPr wrap="square" lIns="0" tIns="0" rIns="0" bIns="0" rtlCol="0" anchor="t">
            <a:normAutofit/>
          </a:bodyPr>
          <a:lstStyle/>
          <a:p>
            <a:pPr marL="0" indent="0" algn="l">
              <a:lnSpc>
                <a:spcPct val="117000"/>
              </a:lnSpc>
              <a:buNone/>
            </a:pPr>
            <a:r>
              <a:rPr lang="en-US" sz="1700" dirty="0">
                <a:solidFill>
                  <a:srgbClr val="E6D9D8"/>
                </a:solidFill>
                <a:latin typeface="Heebo Light" pitchFamily="34" charset="0"/>
                <a:ea typeface="Heebo Light" pitchFamily="34" charset="-122"/>
                <a:cs typeface="Heebo Light" pitchFamily="34" charset="-120"/>
              </a:rPr>
              <a:t>On/off, device modes, schedules, automations, smart energy modes.</a:t>
            </a:r>
            <a:endParaRPr lang="en-US" sz="1700" dirty="0"/>
          </a:p>
        </p:txBody>
      </p:sp>
      <p:sp>
        <p:nvSpPr>
          <p:cNvPr id="17" name="Text 15"/>
          <p:cNvSpPr/>
          <p:nvPr/>
        </p:nvSpPr>
        <p:spPr>
          <a:xfrm>
            <a:off x="304792" y="5919391"/>
            <a:ext cx="11582110" cy="302220"/>
          </a:xfrm>
          <a:prstGeom prst="rect">
            <a:avLst/>
          </a:prstGeom>
          <a:noFill/>
          <a:ln/>
        </p:spPr>
        <p:txBody>
          <a:bodyPr wrap="none" lIns="0" tIns="0" rIns="0" bIns="0" rtlCol="0" anchor="t"/>
          <a:lstStyle/>
          <a:p>
            <a:pPr marL="0" indent="0" algn="ctr">
              <a:lnSpc>
                <a:spcPct val="117000"/>
              </a:lnSpc>
              <a:buNone/>
            </a:pPr>
            <a:r>
              <a:rPr lang="en-US" sz="1700" b="1" dirty="0">
                <a:solidFill>
                  <a:srgbClr val="E6D9D8"/>
                </a:solidFill>
                <a:latin typeface="Heebo Bold" pitchFamily="34" charset="0"/>
                <a:ea typeface="Heebo Bold" pitchFamily="34" charset="-122"/>
                <a:cs typeface="Heebo Bold" pitchFamily="34" charset="-120"/>
              </a:rPr>
              <a:t>Modes:</a:t>
            </a:r>
            <a:r>
              <a:rPr lang="en-US" sz="1700" dirty="0">
                <a:solidFill>
                  <a:srgbClr val="E6D9D8"/>
                </a:solidFill>
                <a:latin typeface="Heebo Light" pitchFamily="34" charset="0"/>
                <a:ea typeface="Heebo Light" pitchFamily="34" charset="-122"/>
                <a:cs typeface="Heebo Light" pitchFamily="34" charset="-120"/>
              </a:rPr>
              <a:t> ECO · COMFORT · SLEEP · NIGHT · AWAY · HOME · WORK · ENERGY SAVING · PEAK AVOIDANCE · CUSTOM</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09600"/>
            <a:ext cx="6822309" cy="182860"/>
          </a:xfrm>
          <a:prstGeom prst="rect">
            <a:avLst/>
          </a:prstGeom>
          <a:noFill/>
          <a:ln/>
        </p:spPr>
        <p:txBody>
          <a:bodyPr wrap="none" lIns="0" tIns="0" rIns="0" bIns="0" rtlCol="0" anchor="t"/>
          <a:lstStyle/>
          <a:p>
            <a:pPr marL="0" indent="0" algn="l">
              <a:lnSpc>
                <a:spcPct val="100000"/>
              </a:lnSpc>
              <a:buNone/>
            </a:pPr>
            <a:r>
              <a:rPr lang="en-US" sz="1200" kern="100" spc="96" dirty="0">
                <a:solidFill>
                  <a:srgbClr val="C4B0B2"/>
                </a:solidFill>
                <a:latin typeface="Heebo Medium" pitchFamily="34" charset="0"/>
                <a:ea typeface="Heebo Medium" pitchFamily="34" charset="-122"/>
                <a:cs typeface="Heebo Medium" pitchFamily="34" charset="-120"/>
              </a:rPr>
              <a:t>AUDIT &amp; OPTIMIZATION</a:t>
            </a:r>
            <a:endParaRPr lang="en-US" sz="1200" dirty="0"/>
          </a:p>
        </p:txBody>
      </p:sp>
      <p:sp>
        <p:nvSpPr>
          <p:cNvPr id="3" name="Text 1"/>
          <p:cNvSpPr/>
          <p:nvPr/>
        </p:nvSpPr>
        <p:spPr>
          <a:xfrm>
            <a:off x="609585" y="878185"/>
            <a:ext cx="6212724" cy="915392"/>
          </a:xfrm>
          <a:prstGeom prst="rect">
            <a:avLst/>
          </a:prstGeom>
          <a:noFill/>
          <a:ln/>
        </p:spPr>
        <p:txBody>
          <a:bodyPr wrap="square" lIns="0" tIns="0" rIns="0" bIns="0" rtlCol="0" anchor="t">
            <a:normAutofit/>
          </a:bodyPr>
          <a:lstStyle/>
          <a:p>
            <a:pPr marL="0" indent="0" algn="l">
              <a:lnSpc>
                <a:spcPct val="88000"/>
              </a:lnSpc>
              <a:buNone/>
            </a:pPr>
            <a:r>
              <a:rPr lang="en-US" sz="3400" kern="100" spc="-85" dirty="0">
                <a:solidFill>
                  <a:srgbClr val="FBF3F0"/>
                </a:solidFill>
                <a:latin typeface="Montserrat SemiBold" pitchFamily="34" charset="0"/>
                <a:ea typeface="Montserrat SemiBold" pitchFamily="34" charset="-122"/>
                <a:cs typeface="Montserrat SemiBold" pitchFamily="34" charset="-120"/>
              </a:rPr>
              <a:t>Measure the gap, then optimize it</a:t>
            </a:r>
            <a:endParaRPr lang="en-US" sz="3400" dirty="0"/>
          </a:p>
        </p:txBody>
      </p:sp>
      <p:sp>
        <p:nvSpPr>
          <p:cNvPr id="4" name="Shape 2"/>
          <p:cNvSpPr/>
          <p:nvPr/>
        </p:nvSpPr>
        <p:spPr>
          <a:xfrm>
            <a:off x="609585" y="2133203"/>
            <a:ext cx="6212724" cy="31651"/>
          </a:xfrm>
          <a:prstGeom prst="roundRect">
            <a:avLst>
              <a:gd name="adj" fmla="val 49998"/>
            </a:avLst>
          </a:prstGeom>
          <a:solidFill>
            <a:srgbClr val="3D2A31"/>
          </a:solidFill>
          <a:ln/>
        </p:spPr>
      </p:sp>
      <p:pic>
        <p:nvPicPr>
          <p:cNvPr id="5" name="Image 0" descr="preencoded.png"/>
          <p:cNvPicPr>
            <a:picLocks noChangeAspect="1"/>
          </p:cNvPicPr>
          <p:nvPr/>
        </p:nvPicPr>
        <p:blipFill>
          <a:blip r:embed="rId3"/>
          <a:stretch>
            <a:fillRect/>
          </a:stretch>
        </p:blipFill>
        <p:spPr>
          <a:xfrm>
            <a:off x="609585" y="2482552"/>
            <a:ext cx="6212724" cy="2747962"/>
          </a:xfrm>
          <a:prstGeom prst="rect">
            <a:avLst/>
          </a:prstGeom>
        </p:spPr>
      </p:pic>
      <p:sp>
        <p:nvSpPr>
          <p:cNvPr id="6" name="Text 3"/>
          <p:cNvSpPr/>
          <p:nvPr/>
        </p:nvSpPr>
        <p:spPr>
          <a:xfrm>
            <a:off x="609585" y="5316240"/>
            <a:ext cx="6212724" cy="379611"/>
          </a:xfrm>
          <a:prstGeom prst="rect">
            <a:avLst/>
          </a:prstGeom>
          <a:noFill/>
          <a:ln/>
        </p:spPr>
        <p:txBody>
          <a:bodyPr wrap="square" lIns="0" tIns="0" rIns="0" bIns="0" rtlCol="0" anchor="t">
            <a:normAutofit/>
          </a:bodyPr>
          <a:lstStyle/>
          <a:p>
            <a:pPr marL="0" indent="0" algn="l">
              <a:lnSpc>
                <a:spcPct val="108000"/>
              </a:lnSpc>
              <a:buNone/>
            </a:pPr>
            <a:r>
              <a:rPr lang="en-US" sz="1150" kern="100" spc="17" dirty="0">
                <a:solidFill>
                  <a:srgbClr val="A89598"/>
                </a:solidFill>
                <a:latin typeface="Heebo" pitchFamily="34" charset="0"/>
                <a:ea typeface="Heebo" pitchFamily="34" charset="-122"/>
                <a:cs typeface="Heebo" pitchFamily="34" charset="-120"/>
              </a:rPr>
              <a:t>Reconciliation audit: 95.8% coverage. Unmonitored gap stems from standby loads, unmonitored circuits, and sensor sync timing.</a:t>
            </a:r>
            <a:endParaRPr lang="en-US" sz="1150" dirty="0"/>
          </a:p>
        </p:txBody>
      </p:sp>
      <p:sp>
        <p:nvSpPr>
          <p:cNvPr id="7" name="Text 4"/>
          <p:cNvSpPr/>
          <p:nvPr/>
        </p:nvSpPr>
        <p:spPr>
          <a:xfrm>
            <a:off x="8498568" y="1473994"/>
            <a:ext cx="3693127" cy="189805"/>
          </a:xfrm>
          <a:prstGeom prst="rect">
            <a:avLst/>
          </a:prstGeom>
          <a:noFill/>
          <a:ln/>
        </p:spPr>
        <p:txBody>
          <a:bodyPr wrap="none" lIns="0" tIns="0" rIns="0" bIns="0" rtlCol="0" anchor="t"/>
          <a:lstStyle/>
          <a:p>
            <a:pPr marL="0" indent="0" algn="l">
              <a:lnSpc>
                <a:spcPct val="108000"/>
              </a:lnSpc>
              <a:buNone/>
            </a:pPr>
            <a:r>
              <a:rPr lang="en-US" sz="1150" kern="100" spc="17" dirty="0">
                <a:solidFill>
                  <a:srgbClr val="A89598"/>
                </a:solidFill>
                <a:latin typeface="Heebo" pitchFamily="34" charset="0"/>
                <a:ea typeface="Heebo" pitchFamily="34" charset="-122"/>
                <a:cs typeface="Heebo" pitchFamily="34" charset="-120"/>
              </a:rPr>
              <a:t>SAFETY OVERLOAD ALERT</a:t>
            </a:r>
            <a:endParaRPr lang="en-US" sz="1150" dirty="0"/>
          </a:p>
        </p:txBody>
      </p:sp>
      <p:sp>
        <p:nvSpPr>
          <p:cNvPr id="8" name="Text 5"/>
          <p:cNvSpPr/>
          <p:nvPr/>
        </p:nvSpPr>
        <p:spPr>
          <a:xfrm>
            <a:off x="8498568" y="2025749"/>
            <a:ext cx="3083542" cy="633909"/>
          </a:xfrm>
          <a:prstGeom prst="rect">
            <a:avLst/>
          </a:prstGeom>
          <a:noFill/>
          <a:ln/>
        </p:spPr>
        <p:txBody>
          <a:bodyPr wrap="none" lIns="0" tIns="0" rIns="0" bIns="0" rtlCol="0" anchor="t"/>
          <a:lstStyle/>
          <a:p>
            <a:pPr marL="0" indent="0" algn="l">
              <a:lnSpc>
                <a:spcPct val="80000"/>
              </a:lnSpc>
              <a:buNone/>
            </a:pPr>
            <a:r>
              <a:rPr lang="en-US" sz="5200" kern="100" spc="-182" dirty="0">
                <a:solidFill>
                  <a:srgbClr val="FF5A7A"/>
                </a:solidFill>
                <a:latin typeface="Montserrat SemiBold" pitchFamily="34" charset="0"/>
                <a:ea typeface="Montserrat SemiBold" pitchFamily="34" charset="-122"/>
                <a:cs typeface="Montserrat SemiBold" pitchFamily="34" charset="-120"/>
              </a:rPr>
              <a:t>3.65</a:t>
            </a:r>
            <a:r>
              <a:rPr lang="en-US" sz="1800" kern="100" spc="-182" dirty="0">
                <a:solidFill>
                  <a:srgbClr val="FF5A7A"/>
                </a:solidFill>
                <a:latin typeface="Montserrat SemiBold" pitchFamily="34" charset="0"/>
                <a:ea typeface="Montserrat SemiBold" pitchFamily="34" charset="-122"/>
                <a:cs typeface="Montserrat SemiBold" pitchFamily="34" charset="-120"/>
              </a:rPr>
              <a:t> kW</a:t>
            </a:r>
            <a:endParaRPr lang="en-US" sz="5200" dirty="0"/>
          </a:p>
        </p:txBody>
      </p:sp>
      <p:sp>
        <p:nvSpPr>
          <p:cNvPr id="9" name="Text 6"/>
          <p:cNvSpPr/>
          <p:nvPr/>
        </p:nvSpPr>
        <p:spPr>
          <a:xfrm>
            <a:off x="8498568" y="2872383"/>
            <a:ext cx="3083542" cy="515541"/>
          </a:xfrm>
          <a:prstGeom prst="rect">
            <a:avLst/>
          </a:prstGeom>
          <a:noFill/>
          <a:ln/>
        </p:spPr>
        <p:txBody>
          <a:bodyPr wrap="square" lIns="0" tIns="0" rIns="0" bIns="0" rtlCol="0" anchor="t">
            <a:normAutofit/>
          </a:bodyPr>
          <a:lstStyle/>
          <a:p>
            <a:pPr marL="0" indent="0" algn="l">
              <a:lnSpc>
                <a:spcPct val="117000"/>
              </a:lnSpc>
              <a:buNone/>
            </a:pPr>
            <a:r>
              <a:rPr lang="en-US" sz="1450" dirty="0">
                <a:solidFill>
                  <a:srgbClr val="E6D9D8"/>
                </a:solidFill>
                <a:latin typeface="Heebo Light" pitchFamily="34" charset="0"/>
                <a:ea typeface="Heebo Light" pitchFamily="34" charset="-122"/>
                <a:cs typeface="Heebo Light" pitchFamily="34" charset="-120"/>
              </a:rPr>
              <a:t>Current household demand exceeds safe limit threshold of </a:t>
            </a:r>
            <a:r>
              <a:rPr lang="en-US" sz="1450" b="1" dirty="0">
                <a:solidFill>
                  <a:srgbClr val="E6D9D8"/>
                </a:solidFill>
                <a:latin typeface="Heebo Bold" pitchFamily="34" charset="0"/>
                <a:ea typeface="Heebo Bold" pitchFamily="34" charset="-122"/>
                <a:cs typeface="Heebo Bold" pitchFamily="34" charset="-120"/>
              </a:rPr>
              <a:t>3.50 kW</a:t>
            </a:r>
            <a:r>
              <a:rPr lang="en-US" sz="1450" dirty="0">
                <a:solidFill>
                  <a:srgbClr val="E6D9D8"/>
                </a:solidFill>
                <a:latin typeface="Heebo Light" pitchFamily="34" charset="0"/>
                <a:ea typeface="Heebo Light" pitchFamily="34" charset="-122"/>
                <a:cs typeface="Heebo Light" pitchFamily="34" charset="-120"/>
              </a:rPr>
              <a:t>.</a:t>
            </a:r>
            <a:endParaRPr lang="en-US" sz="1450" dirty="0"/>
          </a:p>
        </p:txBody>
      </p:sp>
      <p:sp>
        <p:nvSpPr>
          <p:cNvPr id="10" name="Text 7"/>
          <p:cNvSpPr/>
          <p:nvPr/>
        </p:nvSpPr>
        <p:spPr>
          <a:xfrm>
            <a:off x="8498568" y="3578423"/>
            <a:ext cx="3693127" cy="189805"/>
          </a:xfrm>
          <a:prstGeom prst="rect">
            <a:avLst/>
          </a:prstGeom>
          <a:noFill/>
          <a:ln/>
        </p:spPr>
        <p:txBody>
          <a:bodyPr wrap="none" lIns="0" tIns="0" rIns="0" bIns="0" rtlCol="0" anchor="t"/>
          <a:lstStyle/>
          <a:p>
            <a:pPr marL="0" indent="0" algn="l">
              <a:lnSpc>
                <a:spcPct val="108000"/>
              </a:lnSpc>
              <a:buNone/>
            </a:pPr>
            <a:r>
              <a:rPr lang="en-US" sz="1150" kern="100" spc="17" dirty="0">
                <a:solidFill>
                  <a:srgbClr val="A89598"/>
                </a:solidFill>
                <a:latin typeface="Heebo" pitchFamily="34" charset="0"/>
                <a:ea typeface="Heebo" pitchFamily="34" charset="-122"/>
                <a:cs typeface="Heebo" pitchFamily="34" charset="-120"/>
              </a:rPr>
              <a:t>ECO MODE RESPONSE</a:t>
            </a:r>
            <a:endParaRPr lang="en-US" sz="1150" dirty="0"/>
          </a:p>
        </p:txBody>
      </p:sp>
      <p:sp>
        <p:nvSpPr>
          <p:cNvPr id="11" name="Text 8"/>
          <p:cNvSpPr/>
          <p:nvPr/>
        </p:nvSpPr>
        <p:spPr>
          <a:xfrm>
            <a:off x="8498568" y="4130179"/>
            <a:ext cx="3083542" cy="328116"/>
          </a:xfrm>
          <a:prstGeom prst="rect">
            <a:avLst/>
          </a:prstGeom>
          <a:noFill/>
          <a:ln/>
        </p:spPr>
        <p:txBody>
          <a:bodyPr wrap="none" lIns="0" tIns="0" rIns="0" bIns="0" rtlCol="0" anchor="t"/>
          <a:lstStyle/>
          <a:p>
            <a:pPr marL="0" indent="0" algn="l">
              <a:lnSpc>
                <a:spcPct val="113000"/>
              </a:lnSpc>
              <a:buNone/>
            </a:pPr>
            <a:r>
              <a:rPr lang="en-US" sz="1900" kern="100" spc="-47" dirty="0">
                <a:solidFill>
                  <a:srgbClr val="E6D9D8"/>
                </a:solidFill>
                <a:latin typeface="Montserrat Medium" pitchFamily="34" charset="0"/>
                <a:ea typeface="Montserrat Medium" pitchFamily="34" charset="-122"/>
                <a:cs typeface="Montserrat Medium" pitchFamily="34" charset="-120"/>
              </a:rPr>
              <a:t>Dynamic Trim Active</a:t>
            </a:r>
            <a:endParaRPr lang="en-US" sz="1900" dirty="0"/>
          </a:p>
        </p:txBody>
      </p:sp>
      <p:sp>
        <p:nvSpPr>
          <p:cNvPr id="12" name="Text 9"/>
          <p:cNvSpPr/>
          <p:nvPr/>
        </p:nvSpPr>
        <p:spPr>
          <a:xfrm>
            <a:off x="8498568" y="4610695"/>
            <a:ext cx="3083542" cy="773311"/>
          </a:xfrm>
          <a:prstGeom prst="rect">
            <a:avLst/>
          </a:prstGeom>
          <a:noFill/>
          <a:ln/>
        </p:spPr>
        <p:txBody>
          <a:bodyPr wrap="square" lIns="0" tIns="0" rIns="0" bIns="0" rtlCol="0" anchor="t">
            <a:normAutofit/>
          </a:bodyPr>
          <a:lstStyle/>
          <a:p>
            <a:pPr marL="0" indent="0" algn="l">
              <a:lnSpc>
                <a:spcPct val="117000"/>
              </a:lnSpc>
              <a:buNone/>
            </a:pPr>
            <a:r>
              <a:rPr lang="en-US" sz="1450" dirty="0">
                <a:solidFill>
                  <a:srgbClr val="E6D9D8"/>
                </a:solidFill>
                <a:latin typeface="Heebo Light" pitchFamily="34" charset="0"/>
                <a:ea typeface="Heebo Light" pitchFamily="34" charset="-122"/>
                <a:cs typeface="Heebo Light" pitchFamily="34" charset="-120"/>
              </a:rPr>
              <a:t>Adjusts AC setpoints, cycles fans, dims lighting, and cuts standby draws to shed </a:t>
            </a:r>
            <a:r>
              <a:rPr lang="en-US" sz="1450" b="1" dirty="0">
                <a:solidFill>
                  <a:srgbClr val="E6D9D8"/>
                </a:solidFill>
                <a:latin typeface="Heebo Bold" pitchFamily="34" charset="0"/>
                <a:ea typeface="Heebo Bold" pitchFamily="34" charset="-122"/>
                <a:cs typeface="Heebo Bold" pitchFamily="34" charset="-120"/>
              </a:rPr>
              <a:t>0.65 kW</a:t>
            </a:r>
            <a:r>
              <a:rPr lang="en-US" sz="1450" dirty="0">
                <a:solidFill>
                  <a:srgbClr val="E6D9D8"/>
                </a:solidFill>
                <a:latin typeface="Heebo Light" pitchFamily="34" charset="0"/>
                <a:ea typeface="Heebo Light" pitchFamily="34" charset="-122"/>
                <a:cs typeface="Heebo Light" pitchFamily="34" charset="-120"/>
              </a:rPr>
              <a:t> instantly.</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58786" y="457200"/>
            <a:ext cx="5892653" cy="915392"/>
          </a:xfrm>
          <a:prstGeom prst="rect">
            <a:avLst/>
          </a:prstGeom>
          <a:noFill/>
          <a:ln/>
        </p:spPr>
        <p:txBody>
          <a:bodyPr wrap="square" lIns="0" tIns="0" rIns="0" bIns="0" rtlCol="0" anchor="t">
            <a:normAutofit/>
          </a:bodyPr>
          <a:lstStyle/>
          <a:p>
            <a:pPr marL="0" indent="0" algn="l">
              <a:lnSpc>
                <a:spcPct val="88000"/>
              </a:lnSpc>
              <a:buNone/>
            </a:pPr>
            <a:r>
              <a:rPr lang="en-US" sz="3400" kern="100" spc="-85" dirty="0">
                <a:solidFill>
                  <a:srgbClr val="FBF3F0"/>
                </a:solidFill>
                <a:latin typeface="Montserrat SemiBold" pitchFamily="34" charset="0"/>
                <a:ea typeface="Montserrat SemiBold" pitchFamily="34" charset="-122"/>
                <a:cs typeface="Montserrat SemiBold" pitchFamily="34" charset="-120"/>
              </a:rPr>
              <a:t>One dashboard makes the invisible visible</a:t>
            </a:r>
            <a:endParaRPr lang="en-US" sz="3400" dirty="0"/>
          </a:p>
        </p:txBody>
      </p:sp>
      <p:sp>
        <p:nvSpPr>
          <p:cNvPr id="3" name="Shape 1"/>
          <p:cNvSpPr/>
          <p:nvPr/>
        </p:nvSpPr>
        <p:spPr>
          <a:xfrm>
            <a:off x="558786" y="1712218"/>
            <a:ext cx="5892653" cy="31651"/>
          </a:xfrm>
          <a:prstGeom prst="roundRect">
            <a:avLst>
              <a:gd name="adj" fmla="val 49998"/>
            </a:avLst>
          </a:prstGeom>
          <a:solidFill>
            <a:srgbClr val="3D2A31"/>
          </a:solidFill>
          <a:ln/>
        </p:spPr>
      </p:sp>
      <p:pic>
        <p:nvPicPr>
          <p:cNvPr id="4" name="Image 0" descr="preencoded.png"/>
          <p:cNvPicPr>
            <a:picLocks noChangeAspect="1"/>
          </p:cNvPicPr>
          <p:nvPr/>
        </p:nvPicPr>
        <p:blipFill>
          <a:blip r:embed="rId3"/>
          <a:stretch>
            <a:fillRect/>
          </a:stretch>
        </p:blipFill>
        <p:spPr>
          <a:xfrm>
            <a:off x="558786" y="2061567"/>
            <a:ext cx="5892653" cy="1275457"/>
          </a:xfrm>
          <a:prstGeom prst="rect">
            <a:avLst/>
          </a:prstGeom>
        </p:spPr>
      </p:pic>
      <p:sp>
        <p:nvSpPr>
          <p:cNvPr id="5" name="Text 2"/>
          <p:cNvSpPr/>
          <p:nvPr/>
        </p:nvSpPr>
        <p:spPr>
          <a:xfrm>
            <a:off x="749281" y="2201267"/>
            <a:ext cx="5511662" cy="328116"/>
          </a:xfrm>
          <a:prstGeom prst="rect">
            <a:avLst/>
          </a:prstGeom>
          <a:noFill/>
          <a:ln/>
        </p:spPr>
        <p:txBody>
          <a:bodyPr wrap="none" lIns="0" tIns="0" rIns="0" bIns="0" rtlCol="0" anchor="t"/>
          <a:lstStyle/>
          <a:p>
            <a:pPr marL="0" indent="0" algn="l">
              <a:lnSpc>
                <a:spcPct val="113000"/>
              </a:lnSpc>
              <a:buNone/>
            </a:pPr>
            <a:r>
              <a:rPr lang="en-US" sz="1900" kern="100" spc="-47" dirty="0">
                <a:solidFill>
                  <a:srgbClr val="E6D9D8"/>
                </a:solidFill>
                <a:latin typeface="Montserrat Medium" pitchFamily="34" charset="0"/>
                <a:ea typeface="Montserrat Medium" pitchFamily="34" charset="-122"/>
                <a:cs typeface="Montserrat Medium" pitchFamily="34" charset="-120"/>
              </a:rPr>
              <a:t>Hero dashboard</a:t>
            </a:r>
            <a:endParaRPr lang="en-US" sz="1900" dirty="0"/>
          </a:p>
        </p:txBody>
      </p:sp>
      <p:sp>
        <p:nvSpPr>
          <p:cNvPr id="6" name="Text 3"/>
          <p:cNvSpPr/>
          <p:nvPr/>
        </p:nvSpPr>
        <p:spPr>
          <a:xfrm>
            <a:off x="749281" y="2681784"/>
            <a:ext cx="5511662" cy="515541"/>
          </a:xfrm>
          <a:prstGeom prst="rect">
            <a:avLst/>
          </a:prstGeom>
          <a:noFill/>
          <a:ln/>
        </p:spPr>
        <p:txBody>
          <a:bodyPr wrap="square" lIns="0" tIns="0" rIns="0" bIns="0" rtlCol="0" anchor="t">
            <a:normAutofit/>
          </a:bodyPr>
          <a:lstStyle/>
          <a:p>
            <a:pPr marL="0" indent="0" algn="l">
              <a:lnSpc>
                <a:spcPct val="117000"/>
              </a:lnSpc>
              <a:buNone/>
            </a:pPr>
            <a:r>
              <a:rPr lang="en-US" sz="1450" dirty="0">
                <a:solidFill>
                  <a:srgbClr val="E6D9D8"/>
                </a:solidFill>
                <a:latin typeface="Heebo Light" pitchFamily="34" charset="0"/>
                <a:ea typeface="Heebo Light" pitchFamily="34" charset="-122"/>
                <a:cs typeface="Heebo Light" pitchFamily="34" charset="-120"/>
              </a:rPr>
              <a:t>Total household load, energy today, monthly energy, estimated cost, peak demand, CO₂, savings, active devices, alerts, and energy goal.</a:t>
            </a:r>
            <a:endParaRPr lang="en-US" sz="1450" dirty="0"/>
          </a:p>
        </p:txBody>
      </p:sp>
      <p:pic>
        <p:nvPicPr>
          <p:cNvPr id="7" name="Image 1" descr="preencoded.png"/>
          <p:cNvPicPr>
            <a:picLocks noChangeAspect="1"/>
          </p:cNvPicPr>
          <p:nvPr/>
        </p:nvPicPr>
        <p:blipFill>
          <a:blip r:embed="rId4"/>
          <a:stretch>
            <a:fillRect/>
          </a:stretch>
        </p:blipFill>
        <p:spPr>
          <a:xfrm>
            <a:off x="558786" y="3489424"/>
            <a:ext cx="5892653" cy="1533227"/>
          </a:xfrm>
          <a:prstGeom prst="rect">
            <a:avLst/>
          </a:prstGeom>
        </p:spPr>
      </p:pic>
      <p:sp>
        <p:nvSpPr>
          <p:cNvPr id="8" name="Text 4"/>
          <p:cNvSpPr/>
          <p:nvPr/>
        </p:nvSpPr>
        <p:spPr>
          <a:xfrm>
            <a:off x="749281" y="3629124"/>
            <a:ext cx="5511662" cy="328116"/>
          </a:xfrm>
          <a:prstGeom prst="rect">
            <a:avLst/>
          </a:prstGeom>
          <a:noFill/>
          <a:ln/>
        </p:spPr>
        <p:txBody>
          <a:bodyPr wrap="none" lIns="0" tIns="0" rIns="0" bIns="0" rtlCol="0" anchor="t"/>
          <a:lstStyle/>
          <a:p>
            <a:pPr marL="0" indent="0" algn="l">
              <a:lnSpc>
                <a:spcPct val="113000"/>
              </a:lnSpc>
              <a:buNone/>
            </a:pPr>
            <a:r>
              <a:rPr lang="en-US" sz="1900" kern="100" spc="-47" dirty="0">
                <a:solidFill>
                  <a:srgbClr val="E6D9D8"/>
                </a:solidFill>
                <a:latin typeface="Montserrat Medium" pitchFamily="34" charset="0"/>
                <a:ea typeface="Montserrat Medium" pitchFamily="34" charset="-122"/>
                <a:cs typeface="Montserrat Medium" pitchFamily="34" charset="-120"/>
              </a:rPr>
              <a:t>Meter reconciliation &amp; hierarchy</a:t>
            </a:r>
            <a:endParaRPr lang="en-US" sz="1900" dirty="0"/>
          </a:p>
        </p:txBody>
      </p:sp>
      <p:sp>
        <p:nvSpPr>
          <p:cNvPr id="9" name="Text 5"/>
          <p:cNvSpPr/>
          <p:nvPr/>
        </p:nvSpPr>
        <p:spPr>
          <a:xfrm>
            <a:off x="749281" y="4109641"/>
            <a:ext cx="5511662" cy="773311"/>
          </a:xfrm>
          <a:prstGeom prst="rect">
            <a:avLst/>
          </a:prstGeom>
          <a:noFill/>
          <a:ln/>
        </p:spPr>
        <p:txBody>
          <a:bodyPr wrap="square" lIns="0" tIns="0" rIns="0" bIns="0" rtlCol="0" anchor="t">
            <a:normAutofit/>
          </a:bodyPr>
          <a:lstStyle/>
          <a:p>
            <a:pPr marL="0" indent="0" algn="l">
              <a:lnSpc>
                <a:spcPct val="117000"/>
              </a:lnSpc>
              <a:buNone/>
            </a:pPr>
            <a:r>
              <a:rPr lang="en-US" sz="1450" dirty="0">
                <a:solidFill>
                  <a:srgbClr val="E6D9D8"/>
                </a:solidFill>
                <a:latin typeface="Heebo Light" pitchFamily="34" charset="0"/>
                <a:ea typeface="Heebo Light" pitchFamily="34" charset="-122"/>
                <a:cs typeface="Heebo Light" pitchFamily="34" charset="-120"/>
              </a:rPr>
              <a:t>Reconcile utility consumption, monitored consumption, and meter difference. Navigate house → room → switch box → channel → device.</a:t>
            </a:r>
            <a:endParaRPr lang="en-US" sz="1450" dirty="0"/>
          </a:p>
        </p:txBody>
      </p:sp>
      <p:pic>
        <p:nvPicPr>
          <p:cNvPr id="10" name="Image 2" descr="preencoded.png"/>
          <p:cNvPicPr>
            <a:picLocks noChangeAspect="1"/>
          </p:cNvPicPr>
          <p:nvPr/>
        </p:nvPicPr>
        <p:blipFill>
          <a:blip r:embed="rId5"/>
          <a:stretch>
            <a:fillRect/>
          </a:stretch>
        </p:blipFill>
        <p:spPr>
          <a:xfrm>
            <a:off x="558786" y="5175052"/>
            <a:ext cx="5892653" cy="1275457"/>
          </a:xfrm>
          <a:prstGeom prst="rect">
            <a:avLst/>
          </a:prstGeom>
        </p:spPr>
      </p:pic>
      <p:sp>
        <p:nvSpPr>
          <p:cNvPr id="11" name="Text 6"/>
          <p:cNvSpPr/>
          <p:nvPr/>
        </p:nvSpPr>
        <p:spPr>
          <a:xfrm>
            <a:off x="749281" y="5314752"/>
            <a:ext cx="5511662" cy="328116"/>
          </a:xfrm>
          <a:prstGeom prst="rect">
            <a:avLst/>
          </a:prstGeom>
          <a:noFill/>
          <a:ln/>
        </p:spPr>
        <p:txBody>
          <a:bodyPr wrap="none" lIns="0" tIns="0" rIns="0" bIns="0" rtlCol="0" anchor="t"/>
          <a:lstStyle/>
          <a:p>
            <a:pPr marL="0" indent="0" algn="l">
              <a:lnSpc>
                <a:spcPct val="113000"/>
              </a:lnSpc>
              <a:buNone/>
            </a:pPr>
            <a:r>
              <a:rPr lang="en-US" sz="1900" kern="100" spc="-47" dirty="0">
                <a:solidFill>
                  <a:srgbClr val="E6D9D8"/>
                </a:solidFill>
                <a:latin typeface="Montserrat Medium" pitchFamily="34" charset="0"/>
                <a:ea typeface="Montserrat Medium" pitchFamily="34" charset="-122"/>
                <a:cs typeface="Montserrat Medium" pitchFamily="34" charset="-120"/>
              </a:rPr>
              <a:t>Analytics &amp; AI Copilot</a:t>
            </a:r>
            <a:endParaRPr lang="en-US" sz="1900" dirty="0"/>
          </a:p>
        </p:txBody>
      </p:sp>
      <p:sp>
        <p:nvSpPr>
          <p:cNvPr id="12" name="Text 7"/>
          <p:cNvSpPr/>
          <p:nvPr/>
        </p:nvSpPr>
        <p:spPr>
          <a:xfrm>
            <a:off x="749281" y="5795268"/>
            <a:ext cx="5511662" cy="515541"/>
          </a:xfrm>
          <a:prstGeom prst="rect">
            <a:avLst/>
          </a:prstGeom>
          <a:noFill/>
          <a:ln/>
        </p:spPr>
        <p:txBody>
          <a:bodyPr wrap="square" lIns="0" tIns="0" rIns="0" bIns="0" rtlCol="0" anchor="t">
            <a:normAutofit/>
          </a:bodyPr>
          <a:lstStyle/>
          <a:p>
            <a:pPr marL="0" indent="0" algn="l">
              <a:lnSpc>
                <a:spcPct val="117000"/>
              </a:lnSpc>
              <a:buNone/>
            </a:pPr>
            <a:r>
              <a:rPr lang="en-US" sz="1450" dirty="0">
                <a:solidFill>
                  <a:srgbClr val="E6D9D8"/>
                </a:solidFill>
                <a:latin typeface="Heebo Light" pitchFamily="34" charset="0"/>
                <a:ea typeface="Heebo Light" pitchFamily="34" charset="-122"/>
                <a:cs typeface="Heebo Light" pitchFamily="34" charset="-120"/>
              </a:rPr>
              <a:t>Energy, cost, peak demand, CO₂, savings, and meter difference. “Why is my bill high?” grounded in application data.</a:t>
            </a:r>
            <a:endParaRPr lang="en-US" sz="1450" dirty="0"/>
          </a:p>
        </p:txBody>
      </p:sp>
      <p:pic>
        <p:nvPicPr>
          <p:cNvPr id="13" name="Image 3" descr="preencoded.png"/>
          <p:cNvPicPr>
            <a:picLocks noChangeAspect="1"/>
          </p:cNvPicPr>
          <p:nvPr/>
        </p:nvPicPr>
        <p:blipFill>
          <a:blip r:embed="rId6"/>
          <a:stretch>
            <a:fillRect/>
          </a:stretch>
        </p:blipFill>
        <p:spPr>
          <a:xfrm>
            <a:off x="6908627" y="0"/>
            <a:ext cx="5283068" cy="690770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609600"/>
            <a:ext cx="10972526" cy="457696"/>
          </a:xfrm>
          <a:prstGeom prst="rect">
            <a:avLst/>
          </a:prstGeom>
          <a:noFill/>
          <a:ln/>
        </p:spPr>
        <p:txBody>
          <a:bodyPr wrap="none" lIns="0" tIns="0" rIns="0" bIns="0" rtlCol="0" anchor="t"/>
          <a:lstStyle/>
          <a:p>
            <a:pPr marL="0" indent="0" algn="l">
              <a:lnSpc>
                <a:spcPct val="88000"/>
              </a:lnSpc>
              <a:buNone/>
            </a:pPr>
            <a:r>
              <a:rPr lang="en-US" sz="3400" kern="100" spc="-85" dirty="0">
                <a:solidFill>
                  <a:srgbClr val="FBF3F0"/>
                </a:solidFill>
                <a:latin typeface="Montserrat SemiBold" pitchFamily="34" charset="0"/>
                <a:ea typeface="Montserrat SemiBold" pitchFamily="34" charset="-122"/>
                <a:cs typeface="Montserrat SemiBold" pitchFamily="34" charset="-120"/>
              </a:rPr>
              <a:t>Visibility creates better energy behavior</a:t>
            </a:r>
            <a:endParaRPr lang="en-US" sz="3400" dirty="0"/>
          </a:p>
        </p:txBody>
      </p:sp>
      <p:sp>
        <p:nvSpPr>
          <p:cNvPr id="3" name="Shape 1"/>
          <p:cNvSpPr/>
          <p:nvPr/>
        </p:nvSpPr>
        <p:spPr>
          <a:xfrm>
            <a:off x="609585" y="1406922"/>
            <a:ext cx="10972526" cy="31651"/>
          </a:xfrm>
          <a:prstGeom prst="roundRect">
            <a:avLst>
              <a:gd name="adj" fmla="val 49998"/>
            </a:avLst>
          </a:prstGeom>
          <a:solidFill>
            <a:srgbClr val="3D2A31"/>
          </a:solidFill>
          <a:ln/>
        </p:spPr>
      </p:sp>
      <p:pic>
        <p:nvPicPr>
          <p:cNvPr id="4" name="Image 0" descr="preencoded.png"/>
          <p:cNvPicPr>
            <a:picLocks noChangeAspect="1"/>
          </p:cNvPicPr>
          <p:nvPr/>
        </p:nvPicPr>
        <p:blipFill>
          <a:blip r:embed="rId3"/>
          <a:stretch>
            <a:fillRect/>
          </a:stretch>
        </p:blipFill>
        <p:spPr>
          <a:xfrm>
            <a:off x="609585" y="1743571"/>
            <a:ext cx="3454314" cy="1998166"/>
          </a:xfrm>
          <a:prstGeom prst="rect">
            <a:avLst/>
          </a:prstGeom>
        </p:spPr>
      </p:pic>
      <p:sp>
        <p:nvSpPr>
          <p:cNvPr id="5" name="Text 2"/>
          <p:cNvSpPr/>
          <p:nvPr/>
        </p:nvSpPr>
        <p:spPr>
          <a:xfrm>
            <a:off x="825479" y="1984871"/>
            <a:ext cx="3238419" cy="182860"/>
          </a:xfrm>
          <a:prstGeom prst="rect">
            <a:avLst/>
          </a:prstGeom>
          <a:noFill/>
          <a:ln/>
        </p:spPr>
        <p:txBody>
          <a:bodyPr wrap="none" lIns="0" tIns="0" rIns="0" bIns="0" rtlCol="0" anchor="t"/>
          <a:lstStyle/>
          <a:p>
            <a:pPr marL="0" indent="0" algn="l">
              <a:lnSpc>
                <a:spcPct val="100000"/>
              </a:lnSpc>
              <a:buNone/>
            </a:pPr>
            <a:r>
              <a:rPr lang="en-US" sz="1200" kern="100" spc="96" dirty="0">
                <a:solidFill>
                  <a:srgbClr val="C4B0B2"/>
                </a:solidFill>
                <a:latin typeface="Heebo Medium" pitchFamily="34" charset="0"/>
                <a:ea typeface="Heebo Medium" pitchFamily="34" charset="-122"/>
                <a:cs typeface="Heebo Medium" pitchFamily="34" charset="-120"/>
              </a:rPr>
              <a:t>SOCIAL</a:t>
            </a:r>
            <a:endParaRPr lang="en-US" sz="1200" dirty="0"/>
          </a:p>
        </p:txBody>
      </p:sp>
      <p:sp>
        <p:nvSpPr>
          <p:cNvPr id="6" name="Text 3"/>
          <p:cNvSpPr/>
          <p:nvPr/>
        </p:nvSpPr>
        <p:spPr>
          <a:xfrm>
            <a:off x="825479" y="2291556"/>
            <a:ext cx="3022524" cy="906661"/>
          </a:xfrm>
          <a:prstGeom prst="rect">
            <a:avLst/>
          </a:prstGeom>
          <a:noFill/>
          <a:ln/>
        </p:spPr>
        <p:txBody>
          <a:bodyPr wrap="square" lIns="0" tIns="0" rIns="0" bIns="0" rtlCol="0" anchor="t">
            <a:normAutofit/>
          </a:bodyPr>
          <a:lstStyle/>
          <a:p>
            <a:pPr marL="0" indent="0" algn="l">
              <a:lnSpc>
                <a:spcPct val="117000"/>
              </a:lnSpc>
              <a:buNone/>
            </a:pPr>
            <a:r>
              <a:rPr lang="en-US" sz="1700" dirty="0">
                <a:solidFill>
                  <a:srgbClr val="E6D9D8"/>
                </a:solidFill>
                <a:latin typeface="Heebo Light" pitchFamily="34" charset="0"/>
                <a:ea typeface="Heebo Light" pitchFamily="34" charset="-122"/>
                <a:cs typeface="Heebo Light" pitchFamily="34" charset="-120"/>
              </a:rPr>
              <a:t>Build appliance-level awareness and support data-driven household decisions.</a:t>
            </a:r>
            <a:endParaRPr lang="en-US" sz="1700" dirty="0"/>
          </a:p>
        </p:txBody>
      </p:sp>
      <p:pic>
        <p:nvPicPr>
          <p:cNvPr id="7" name="Image 1" descr="preencoded.png"/>
          <p:cNvPicPr>
            <a:picLocks noChangeAspect="1"/>
          </p:cNvPicPr>
          <p:nvPr/>
        </p:nvPicPr>
        <p:blipFill>
          <a:blip r:embed="rId4"/>
          <a:stretch>
            <a:fillRect/>
          </a:stretch>
        </p:blipFill>
        <p:spPr>
          <a:xfrm>
            <a:off x="4368691" y="1743571"/>
            <a:ext cx="3454314" cy="1998166"/>
          </a:xfrm>
          <a:prstGeom prst="rect">
            <a:avLst/>
          </a:prstGeom>
        </p:spPr>
      </p:pic>
      <p:sp>
        <p:nvSpPr>
          <p:cNvPr id="8" name="Text 4"/>
          <p:cNvSpPr/>
          <p:nvPr/>
        </p:nvSpPr>
        <p:spPr>
          <a:xfrm>
            <a:off x="4584585" y="1984871"/>
            <a:ext cx="3238419" cy="182860"/>
          </a:xfrm>
          <a:prstGeom prst="rect">
            <a:avLst/>
          </a:prstGeom>
          <a:noFill/>
          <a:ln/>
        </p:spPr>
        <p:txBody>
          <a:bodyPr wrap="none" lIns="0" tIns="0" rIns="0" bIns="0" rtlCol="0" anchor="t"/>
          <a:lstStyle/>
          <a:p>
            <a:pPr marL="0" indent="0" algn="l">
              <a:lnSpc>
                <a:spcPct val="100000"/>
              </a:lnSpc>
              <a:buNone/>
            </a:pPr>
            <a:r>
              <a:rPr lang="en-US" sz="1200" kern="100" spc="96" dirty="0">
                <a:solidFill>
                  <a:srgbClr val="C4B0B2"/>
                </a:solidFill>
                <a:latin typeface="Heebo Medium" pitchFamily="34" charset="0"/>
                <a:ea typeface="Heebo Medium" pitchFamily="34" charset="-122"/>
                <a:cs typeface="Heebo Medium" pitchFamily="34" charset="-120"/>
              </a:rPr>
              <a:t>ECONOMIC</a:t>
            </a:r>
            <a:endParaRPr lang="en-US" sz="1200" dirty="0"/>
          </a:p>
        </p:txBody>
      </p:sp>
      <p:sp>
        <p:nvSpPr>
          <p:cNvPr id="9" name="Text 5"/>
          <p:cNvSpPr/>
          <p:nvPr/>
        </p:nvSpPr>
        <p:spPr>
          <a:xfrm>
            <a:off x="4584585" y="2291556"/>
            <a:ext cx="3022524" cy="906661"/>
          </a:xfrm>
          <a:prstGeom prst="rect">
            <a:avLst/>
          </a:prstGeom>
          <a:noFill/>
          <a:ln/>
        </p:spPr>
        <p:txBody>
          <a:bodyPr wrap="square" lIns="0" tIns="0" rIns="0" bIns="0" rtlCol="0" anchor="t">
            <a:normAutofit/>
          </a:bodyPr>
          <a:lstStyle/>
          <a:p>
            <a:pPr marL="0" indent="0" algn="l">
              <a:lnSpc>
                <a:spcPct val="117000"/>
              </a:lnSpc>
              <a:buNone/>
            </a:pPr>
            <a:r>
              <a:rPr lang="en-US" sz="1700" dirty="0">
                <a:solidFill>
                  <a:srgbClr val="E6D9D8"/>
                </a:solidFill>
                <a:latin typeface="Heebo Light" pitchFamily="34" charset="0"/>
                <a:ea typeface="Heebo Light" pitchFamily="34" charset="-122"/>
                <a:cs typeface="Heebo Light" pitchFamily="34" charset="-120"/>
              </a:rPr>
              <a:t>Expose high-consumption devices, standby waste, costs, and planning opportunities.</a:t>
            </a:r>
            <a:endParaRPr lang="en-US" sz="1700" dirty="0"/>
          </a:p>
        </p:txBody>
      </p:sp>
      <p:pic>
        <p:nvPicPr>
          <p:cNvPr id="10" name="Image 2" descr="preencoded.png"/>
          <p:cNvPicPr>
            <a:picLocks noChangeAspect="1"/>
          </p:cNvPicPr>
          <p:nvPr/>
        </p:nvPicPr>
        <p:blipFill>
          <a:blip r:embed="rId5"/>
          <a:stretch>
            <a:fillRect/>
          </a:stretch>
        </p:blipFill>
        <p:spPr>
          <a:xfrm>
            <a:off x="8127797" y="1743571"/>
            <a:ext cx="3454314" cy="1998166"/>
          </a:xfrm>
          <a:prstGeom prst="rect">
            <a:avLst/>
          </a:prstGeom>
        </p:spPr>
      </p:pic>
      <p:sp>
        <p:nvSpPr>
          <p:cNvPr id="11" name="Text 6"/>
          <p:cNvSpPr/>
          <p:nvPr/>
        </p:nvSpPr>
        <p:spPr>
          <a:xfrm>
            <a:off x="8343691" y="1984871"/>
            <a:ext cx="3238419" cy="182860"/>
          </a:xfrm>
          <a:prstGeom prst="rect">
            <a:avLst/>
          </a:prstGeom>
          <a:noFill/>
          <a:ln/>
        </p:spPr>
        <p:txBody>
          <a:bodyPr wrap="none" lIns="0" tIns="0" rIns="0" bIns="0" rtlCol="0" anchor="t"/>
          <a:lstStyle/>
          <a:p>
            <a:pPr marL="0" indent="0" algn="l">
              <a:lnSpc>
                <a:spcPct val="100000"/>
              </a:lnSpc>
              <a:buNone/>
            </a:pPr>
            <a:r>
              <a:rPr lang="en-US" sz="1200" kern="100" spc="96" dirty="0">
                <a:solidFill>
                  <a:srgbClr val="C4B0B2"/>
                </a:solidFill>
                <a:latin typeface="Heebo Medium" pitchFamily="34" charset="0"/>
                <a:ea typeface="Heebo Medium" pitchFamily="34" charset="-122"/>
                <a:cs typeface="Heebo Medium" pitchFamily="34" charset="-120"/>
              </a:rPr>
              <a:t>ENVIRONMENTAL</a:t>
            </a:r>
            <a:endParaRPr lang="en-US" sz="1200" dirty="0"/>
          </a:p>
        </p:txBody>
      </p:sp>
      <p:sp>
        <p:nvSpPr>
          <p:cNvPr id="12" name="Text 7"/>
          <p:cNvSpPr/>
          <p:nvPr/>
        </p:nvSpPr>
        <p:spPr>
          <a:xfrm>
            <a:off x="8343691" y="2291556"/>
            <a:ext cx="3022524" cy="1208881"/>
          </a:xfrm>
          <a:prstGeom prst="rect">
            <a:avLst/>
          </a:prstGeom>
          <a:noFill/>
          <a:ln/>
        </p:spPr>
        <p:txBody>
          <a:bodyPr wrap="square" lIns="0" tIns="0" rIns="0" bIns="0" rtlCol="0" anchor="t">
            <a:normAutofit/>
          </a:bodyPr>
          <a:lstStyle/>
          <a:p>
            <a:pPr marL="0" indent="0" algn="l">
              <a:lnSpc>
                <a:spcPct val="117000"/>
              </a:lnSpc>
              <a:buNone/>
            </a:pPr>
            <a:r>
              <a:rPr lang="en-US" sz="1700" dirty="0">
                <a:solidFill>
                  <a:srgbClr val="E6D9D8"/>
                </a:solidFill>
                <a:latin typeface="Heebo Light" pitchFamily="34" charset="0"/>
                <a:ea typeface="Heebo Light" pitchFamily="34" charset="-122"/>
                <a:cs typeface="Heebo Light" pitchFamily="34" charset="-120"/>
              </a:rPr>
              <a:t>Encourage conservation, track estimated CO₂ impact, and support solar, EV charging, and peak avoidance.</a:t>
            </a:r>
            <a:endParaRPr lang="en-US" sz="1700" dirty="0"/>
          </a:p>
        </p:txBody>
      </p:sp>
      <p:sp>
        <p:nvSpPr>
          <p:cNvPr id="13" name="Text 8"/>
          <p:cNvSpPr/>
          <p:nvPr/>
        </p:nvSpPr>
        <p:spPr>
          <a:xfrm>
            <a:off x="609585" y="5542359"/>
            <a:ext cx="10972526" cy="706041"/>
          </a:xfrm>
          <a:prstGeom prst="rect">
            <a:avLst/>
          </a:prstGeom>
          <a:noFill/>
          <a:ln/>
        </p:spPr>
        <p:txBody>
          <a:bodyPr wrap="square" lIns="0" tIns="0" rIns="0" bIns="0" rtlCol="0" anchor="t"/>
          <a:lstStyle/>
          <a:p>
            <a:pPr marL="0" indent="0" algn="ctr">
              <a:lnSpc>
                <a:spcPct val="117000"/>
              </a:lnSpc>
              <a:spcAft>
                <a:spcPts val="1450"/>
              </a:spcAft>
              <a:buNone/>
            </a:pPr>
            <a:r>
              <a:rPr lang="en-US" sz="1450" b="1" dirty="0">
                <a:solidFill>
                  <a:srgbClr val="E6D9D8"/>
                </a:solidFill>
                <a:latin typeface="Heebo Bold" pitchFamily="34" charset="0"/>
                <a:ea typeface="Heebo Bold" pitchFamily="34" charset="-122"/>
                <a:cs typeface="Heebo Bold" pitchFamily="34" charset="-120"/>
              </a:rPr>
              <a:t>Impact chain:</a:t>
            </a:r>
            <a:r>
              <a:rPr lang="en-US" sz="1450" dirty="0">
                <a:solidFill>
                  <a:srgbClr val="E6D9D8"/>
                </a:solidFill>
                <a:latin typeface="Heebo Light" pitchFamily="34" charset="0"/>
                <a:ea typeface="Heebo Light" pitchFamily="34" charset="-122"/>
                <a:cs typeface="Heebo Light" pitchFamily="34" charset="-120"/>
              </a:rPr>
              <a:t> energy visibility → better decisions → reduced waste → efficient use → potential cost and environmental benefits.</a:t>
            </a:r>
            <a:endParaRPr lang="en-US" sz="1450" dirty="0"/>
          </a:p>
          <a:p>
            <a:pPr marL="0" indent="0" algn="ctr">
              <a:lnSpc>
                <a:spcPct val="117000"/>
              </a:lnSpc>
              <a:buNone/>
            </a:pPr>
            <a:r>
              <a:rPr lang="en-US" sz="1450" b="1" dirty="0">
                <a:solidFill>
                  <a:srgbClr val="E6D9D8"/>
                </a:solidFill>
                <a:latin typeface="Heebo Bold" pitchFamily="34" charset="0"/>
                <a:ea typeface="Heebo Bold" pitchFamily="34" charset="-122"/>
                <a:cs typeface="Heebo Bold" pitchFamily="34" charset="-120"/>
              </a:rPr>
              <a:t>Users:</a:t>
            </a:r>
            <a:r>
              <a:rPr lang="en-US" sz="1450" dirty="0">
                <a:solidFill>
                  <a:srgbClr val="E6D9D8"/>
                </a:solidFill>
                <a:latin typeface="Heebo Light" pitchFamily="34" charset="0"/>
                <a:ea typeface="Heebo Light" pitchFamily="34" charset="-122"/>
                <a:cs typeface="Heebo Light" pitchFamily="34" charset="-120"/>
              </a:rPr>
              <a:t> households, apartments, hostels, schools, small offices, commercial and smart buildings.</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9585" y="558800"/>
            <a:ext cx="6705432" cy="182860"/>
          </a:xfrm>
          <a:prstGeom prst="rect">
            <a:avLst/>
          </a:prstGeom>
          <a:noFill/>
          <a:ln/>
        </p:spPr>
        <p:txBody>
          <a:bodyPr wrap="none" lIns="0" tIns="0" rIns="0" bIns="0" rtlCol="0" anchor="t"/>
          <a:lstStyle/>
          <a:p>
            <a:pPr marL="0" indent="0" algn="l">
              <a:lnSpc>
                <a:spcPct val="100000"/>
              </a:lnSpc>
              <a:buNone/>
            </a:pPr>
            <a:r>
              <a:rPr lang="en-US" sz="1200" kern="100" spc="96" dirty="0">
                <a:solidFill>
                  <a:srgbClr val="C4B0B2"/>
                </a:solidFill>
                <a:latin typeface="Heebo Medium" pitchFamily="34" charset="0"/>
                <a:ea typeface="Heebo Medium" pitchFamily="34" charset="-122"/>
                <a:cs typeface="Heebo Medium" pitchFamily="34" charset="-120"/>
              </a:rPr>
              <a:t>THE NEXT HORIZON</a:t>
            </a:r>
            <a:endParaRPr lang="en-US" sz="1200" dirty="0"/>
          </a:p>
        </p:txBody>
      </p:sp>
      <p:sp>
        <p:nvSpPr>
          <p:cNvPr id="3" name="Text 1"/>
          <p:cNvSpPr/>
          <p:nvPr/>
        </p:nvSpPr>
        <p:spPr>
          <a:xfrm>
            <a:off x="609585" y="827385"/>
            <a:ext cx="6095848" cy="915392"/>
          </a:xfrm>
          <a:prstGeom prst="rect">
            <a:avLst/>
          </a:prstGeom>
          <a:noFill/>
          <a:ln/>
        </p:spPr>
        <p:txBody>
          <a:bodyPr wrap="square" lIns="0" tIns="0" rIns="0" bIns="0" rtlCol="0" anchor="t">
            <a:normAutofit/>
          </a:bodyPr>
          <a:lstStyle/>
          <a:p>
            <a:pPr marL="0" indent="0" algn="l">
              <a:lnSpc>
                <a:spcPct val="88000"/>
              </a:lnSpc>
              <a:buNone/>
            </a:pPr>
            <a:r>
              <a:rPr lang="en-US" sz="3400" kern="100" spc="-85" dirty="0">
                <a:solidFill>
                  <a:srgbClr val="FBF3F0"/>
                </a:solidFill>
                <a:latin typeface="Montserrat SemiBold" pitchFamily="34" charset="0"/>
                <a:ea typeface="Montserrat SemiBold" pitchFamily="34" charset="-122"/>
                <a:cs typeface="Montserrat SemiBold" pitchFamily="34" charset="-120"/>
              </a:rPr>
              <a:t>From smart home to smart energy</a:t>
            </a:r>
            <a:endParaRPr lang="en-US" sz="3400" dirty="0"/>
          </a:p>
        </p:txBody>
      </p:sp>
      <p:sp>
        <p:nvSpPr>
          <p:cNvPr id="4" name="Shape 2"/>
          <p:cNvSpPr/>
          <p:nvPr/>
        </p:nvSpPr>
        <p:spPr>
          <a:xfrm>
            <a:off x="609585" y="2082403"/>
            <a:ext cx="6095848" cy="31651"/>
          </a:xfrm>
          <a:prstGeom prst="roundRect">
            <a:avLst>
              <a:gd name="adj" fmla="val 49998"/>
            </a:avLst>
          </a:prstGeom>
          <a:solidFill>
            <a:srgbClr val="3D2A31"/>
          </a:solidFill>
          <a:ln/>
        </p:spPr>
      </p:sp>
      <p:sp>
        <p:nvSpPr>
          <p:cNvPr id="5" name="Text 3"/>
          <p:cNvSpPr/>
          <p:nvPr/>
        </p:nvSpPr>
        <p:spPr>
          <a:xfrm>
            <a:off x="609585" y="2431752"/>
            <a:ext cx="6095848" cy="515541"/>
          </a:xfrm>
          <a:prstGeom prst="rect">
            <a:avLst/>
          </a:prstGeom>
          <a:noFill/>
          <a:ln/>
        </p:spPr>
        <p:txBody>
          <a:bodyPr wrap="square" lIns="0" tIns="0" rIns="0" bIns="0" rtlCol="0" anchor="t">
            <a:normAutofit/>
          </a:bodyPr>
          <a:lstStyle/>
          <a:p>
            <a:pPr marL="0" indent="0" algn="l">
              <a:lnSpc>
                <a:spcPct val="117000"/>
              </a:lnSpc>
              <a:buNone/>
            </a:pPr>
            <a:r>
              <a:rPr lang="en-US" sz="1450" dirty="0">
                <a:solidFill>
                  <a:srgbClr val="E6D9D8"/>
                </a:solidFill>
                <a:latin typeface="Heebo Light" pitchFamily="34" charset="0"/>
                <a:ea typeface="Heebo Light" pitchFamily="34" charset="-122"/>
                <a:cs typeface="Heebo Light" pitchFamily="34" charset="-120"/>
              </a:rPr>
              <a:t>Our platform transforms raw household electricity data into actionable intelligence for sustainable, resilient consumption.</a:t>
            </a:r>
            <a:endParaRPr lang="en-US" sz="1450" dirty="0"/>
          </a:p>
        </p:txBody>
      </p:sp>
      <p:sp>
        <p:nvSpPr>
          <p:cNvPr id="6" name="Shape 4"/>
          <p:cNvSpPr/>
          <p:nvPr/>
        </p:nvSpPr>
        <p:spPr>
          <a:xfrm>
            <a:off x="609585" y="3074293"/>
            <a:ext cx="246056" cy="255687"/>
          </a:xfrm>
          <a:prstGeom prst="rect">
            <a:avLst/>
          </a:prstGeom>
          <a:solidFill>
            <a:srgbClr val="FFD08A"/>
          </a:solidFill>
          <a:ln/>
        </p:spPr>
      </p:sp>
      <p:sp>
        <p:nvSpPr>
          <p:cNvPr id="7" name="Text 5"/>
          <p:cNvSpPr/>
          <p:nvPr/>
        </p:nvSpPr>
        <p:spPr>
          <a:xfrm>
            <a:off x="609585" y="3094137"/>
            <a:ext cx="855641" cy="215900"/>
          </a:xfrm>
          <a:prstGeom prst="rect">
            <a:avLst/>
          </a:prstGeom>
          <a:noFill/>
          <a:ln/>
        </p:spPr>
        <p:txBody>
          <a:bodyPr wrap="none" lIns="0" tIns="0" rIns="0" bIns="0" rtlCol="0" anchor="t"/>
          <a:lstStyle/>
          <a:p>
            <a:pPr marL="0" indent="0" algn="l">
              <a:lnSpc>
                <a:spcPct val="83000"/>
              </a:lnSpc>
              <a:buNone/>
            </a:pPr>
            <a:r>
              <a:rPr lang="en-US" sz="1700" dirty="0">
                <a:solidFill>
                  <a:srgbClr val="FF8761"/>
                </a:solidFill>
                <a:latin typeface="Heebo SemiBold" pitchFamily="34" charset="0"/>
                <a:ea typeface="Heebo SemiBold" pitchFamily="34" charset="-122"/>
                <a:cs typeface="Heebo SemiBold" pitchFamily="34" charset="-120"/>
              </a:rPr>
              <a:t>01</a:t>
            </a:r>
            <a:endParaRPr lang="en-US" sz="1700" dirty="0"/>
          </a:p>
        </p:txBody>
      </p:sp>
      <p:sp>
        <p:nvSpPr>
          <p:cNvPr id="8" name="Text 6"/>
          <p:cNvSpPr/>
          <p:nvPr/>
        </p:nvSpPr>
        <p:spPr>
          <a:xfrm>
            <a:off x="982638" y="3074293"/>
            <a:ext cx="5722794" cy="328116"/>
          </a:xfrm>
          <a:prstGeom prst="rect">
            <a:avLst/>
          </a:prstGeom>
          <a:noFill/>
          <a:ln/>
        </p:spPr>
        <p:txBody>
          <a:bodyPr wrap="none" lIns="0" tIns="0" rIns="0" bIns="0" rtlCol="0" anchor="t"/>
          <a:lstStyle/>
          <a:p>
            <a:pPr marL="0" indent="0" algn="l">
              <a:lnSpc>
                <a:spcPct val="113000"/>
              </a:lnSpc>
              <a:buNone/>
            </a:pPr>
            <a:r>
              <a:rPr lang="en-US" sz="1900" kern="100" spc="-47" dirty="0">
                <a:solidFill>
                  <a:srgbClr val="E6D9D8"/>
                </a:solidFill>
                <a:latin typeface="Montserrat Medium" pitchFamily="34" charset="0"/>
                <a:ea typeface="Montserrat Medium" pitchFamily="34" charset="-122"/>
                <a:cs typeface="Montserrat Medium" pitchFamily="34" charset="-120"/>
              </a:rPr>
              <a:t>Smart grid &amp; dynamic tariffs</a:t>
            </a:r>
            <a:endParaRPr lang="en-US" sz="1900" dirty="0"/>
          </a:p>
        </p:txBody>
      </p:sp>
      <p:sp>
        <p:nvSpPr>
          <p:cNvPr id="9" name="Text 7"/>
          <p:cNvSpPr/>
          <p:nvPr/>
        </p:nvSpPr>
        <p:spPr>
          <a:xfrm>
            <a:off x="982638" y="3427809"/>
            <a:ext cx="5722794" cy="257770"/>
          </a:xfrm>
          <a:prstGeom prst="rect">
            <a:avLst/>
          </a:prstGeom>
          <a:noFill/>
          <a:ln/>
        </p:spPr>
        <p:txBody>
          <a:bodyPr wrap="none" lIns="0" tIns="0" rIns="0" bIns="0" rtlCol="0" anchor="t"/>
          <a:lstStyle/>
          <a:p>
            <a:pPr marL="0" indent="0" algn="l">
              <a:lnSpc>
                <a:spcPct val="117000"/>
              </a:lnSpc>
              <a:buNone/>
            </a:pPr>
            <a:r>
              <a:rPr lang="en-US" sz="1450" dirty="0">
                <a:solidFill>
                  <a:srgbClr val="E6D9D8"/>
                </a:solidFill>
                <a:latin typeface="Heebo Light" pitchFamily="34" charset="0"/>
                <a:ea typeface="Heebo Light" pitchFamily="34" charset="-122"/>
                <a:cs typeface="Heebo Light" pitchFamily="34" charset="-120"/>
              </a:rPr>
              <a:t>Automated demand response with direct utility API interop.</a:t>
            </a:r>
            <a:endParaRPr lang="en-US" sz="1450" dirty="0"/>
          </a:p>
        </p:txBody>
      </p:sp>
      <p:sp>
        <p:nvSpPr>
          <p:cNvPr id="10" name="Shape 8"/>
          <p:cNvSpPr/>
          <p:nvPr/>
        </p:nvSpPr>
        <p:spPr>
          <a:xfrm>
            <a:off x="609585" y="3837980"/>
            <a:ext cx="246056" cy="255687"/>
          </a:xfrm>
          <a:prstGeom prst="rect">
            <a:avLst/>
          </a:prstGeom>
          <a:solidFill>
            <a:srgbClr val="FFD08A"/>
          </a:solidFill>
          <a:ln/>
        </p:spPr>
      </p:sp>
      <p:sp>
        <p:nvSpPr>
          <p:cNvPr id="11" name="Text 9"/>
          <p:cNvSpPr/>
          <p:nvPr/>
        </p:nvSpPr>
        <p:spPr>
          <a:xfrm>
            <a:off x="609585" y="3857823"/>
            <a:ext cx="855641" cy="215900"/>
          </a:xfrm>
          <a:prstGeom prst="rect">
            <a:avLst/>
          </a:prstGeom>
          <a:noFill/>
          <a:ln/>
        </p:spPr>
        <p:txBody>
          <a:bodyPr wrap="none" lIns="0" tIns="0" rIns="0" bIns="0" rtlCol="0" anchor="t"/>
          <a:lstStyle/>
          <a:p>
            <a:pPr marL="0" indent="0" algn="l">
              <a:lnSpc>
                <a:spcPct val="83000"/>
              </a:lnSpc>
              <a:buNone/>
            </a:pPr>
            <a:r>
              <a:rPr lang="en-US" sz="1700" dirty="0">
                <a:solidFill>
                  <a:srgbClr val="FF8761"/>
                </a:solidFill>
                <a:latin typeface="Heebo SemiBold" pitchFamily="34" charset="0"/>
                <a:ea typeface="Heebo SemiBold" pitchFamily="34" charset="-122"/>
                <a:cs typeface="Heebo SemiBold" pitchFamily="34" charset="-120"/>
              </a:rPr>
              <a:t>02</a:t>
            </a:r>
            <a:endParaRPr lang="en-US" sz="1700" dirty="0"/>
          </a:p>
        </p:txBody>
      </p:sp>
      <p:sp>
        <p:nvSpPr>
          <p:cNvPr id="12" name="Text 10"/>
          <p:cNvSpPr/>
          <p:nvPr/>
        </p:nvSpPr>
        <p:spPr>
          <a:xfrm>
            <a:off x="982638" y="3837980"/>
            <a:ext cx="5722794" cy="328116"/>
          </a:xfrm>
          <a:prstGeom prst="rect">
            <a:avLst/>
          </a:prstGeom>
          <a:noFill/>
          <a:ln/>
        </p:spPr>
        <p:txBody>
          <a:bodyPr wrap="none" lIns="0" tIns="0" rIns="0" bIns="0" rtlCol="0" anchor="t"/>
          <a:lstStyle/>
          <a:p>
            <a:pPr marL="0" indent="0" algn="l">
              <a:lnSpc>
                <a:spcPct val="113000"/>
              </a:lnSpc>
              <a:buNone/>
            </a:pPr>
            <a:r>
              <a:rPr lang="en-US" sz="1900" kern="100" spc="-47" dirty="0">
                <a:solidFill>
                  <a:srgbClr val="E6D9D8"/>
                </a:solidFill>
                <a:latin typeface="Montserrat Medium" pitchFamily="34" charset="0"/>
                <a:ea typeface="Montserrat Medium" pitchFamily="34" charset="-122"/>
                <a:cs typeface="Montserrat Medium" pitchFamily="34" charset="-120"/>
              </a:rPr>
              <a:t>Solar, battery &amp; EV dispatch</a:t>
            </a:r>
            <a:endParaRPr lang="en-US" sz="1900" dirty="0"/>
          </a:p>
        </p:txBody>
      </p:sp>
      <p:sp>
        <p:nvSpPr>
          <p:cNvPr id="13" name="Text 11"/>
          <p:cNvSpPr/>
          <p:nvPr/>
        </p:nvSpPr>
        <p:spPr>
          <a:xfrm>
            <a:off x="982638" y="4191496"/>
            <a:ext cx="5722794" cy="257770"/>
          </a:xfrm>
          <a:prstGeom prst="rect">
            <a:avLst/>
          </a:prstGeom>
          <a:noFill/>
          <a:ln/>
        </p:spPr>
        <p:txBody>
          <a:bodyPr wrap="none" lIns="0" tIns="0" rIns="0" bIns="0" rtlCol="0" anchor="t"/>
          <a:lstStyle/>
          <a:p>
            <a:pPr marL="0" indent="0" algn="l">
              <a:lnSpc>
                <a:spcPct val="117000"/>
              </a:lnSpc>
              <a:buNone/>
            </a:pPr>
            <a:r>
              <a:rPr lang="en-US" sz="1450" dirty="0">
                <a:solidFill>
                  <a:srgbClr val="E6D9D8"/>
                </a:solidFill>
                <a:latin typeface="Heebo Light" pitchFamily="34" charset="0"/>
                <a:ea typeface="Heebo Light" pitchFamily="34" charset="-122"/>
                <a:cs typeface="Heebo Light" pitchFamily="34" charset="-120"/>
              </a:rPr>
              <a:t>Carbon-aware scheduling aligned to local renewable peaks.</a:t>
            </a:r>
            <a:endParaRPr lang="en-US" sz="1450" dirty="0"/>
          </a:p>
        </p:txBody>
      </p:sp>
      <p:sp>
        <p:nvSpPr>
          <p:cNvPr id="14" name="Shape 12"/>
          <p:cNvSpPr/>
          <p:nvPr/>
        </p:nvSpPr>
        <p:spPr>
          <a:xfrm>
            <a:off x="609585" y="4601666"/>
            <a:ext cx="246056" cy="255687"/>
          </a:xfrm>
          <a:prstGeom prst="rect">
            <a:avLst/>
          </a:prstGeom>
          <a:solidFill>
            <a:srgbClr val="FFD08A"/>
          </a:solidFill>
          <a:ln/>
        </p:spPr>
      </p:sp>
      <p:sp>
        <p:nvSpPr>
          <p:cNvPr id="15" name="Text 13"/>
          <p:cNvSpPr/>
          <p:nvPr/>
        </p:nvSpPr>
        <p:spPr>
          <a:xfrm>
            <a:off x="609585" y="4621510"/>
            <a:ext cx="855641" cy="215900"/>
          </a:xfrm>
          <a:prstGeom prst="rect">
            <a:avLst/>
          </a:prstGeom>
          <a:noFill/>
          <a:ln/>
        </p:spPr>
        <p:txBody>
          <a:bodyPr wrap="none" lIns="0" tIns="0" rIns="0" bIns="0" rtlCol="0" anchor="t"/>
          <a:lstStyle/>
          <a:p>
            <a:pPr marL="0" indent="0" algn="l">
              <a:lnSpc>
                <a:spcPct val="83000"/>
              </a:lnSpc>
              <a:buNone/>
            </a:pPr>
            <a:r>
              <a:rPr lang="en-US" sz="1700" dirty="0">
                <a:solidFill>
                  <a:srgbClr val="FF8761"/>
                </a:solidFill>
                <a:latin typeface="Heebo SemiBold" pitchFamily="34" charset="0"/>
                <a:ea typeface="Heebo SemiBold" pitchFamily="34" charset="-122"/>
                <a:cs typeface="Heebo SemiBold" pitchFamily="34" charset="-120"/>
              </a:rPr>
              <a:t>03</a:t>
            </a:r>
            <a:endParaRPr lang="en-US" sz="1700" dirty="0"/>
          </a:p>
        </p:txBody>
      </p:sp>
      <p:sp>
        <p:nvSpPr>
          <p:cNvPr id="16" name="Text 14"/>
          <p:cNvSpPr/>
          <p:nvPr/>
        </p:nvSpPr>
        <p:spPr>
          <a:xfrm>
            <a:off x="982638" y="4601666"/>
            <a:ext cx="5722794" cy="328116"/>
          </a:xfrm>
          <a:prstGeom prst="rect">
            <a:avLst/>
          </a:prstGeom>
          <a:noFill/>
          <a:ln/>
        </p:spPr>
        <p:txBody>
          <a:bodyPr wrap="none" lIns="0" tIns="0" rIns="0" bIns="0" rtlCol="0" anchor="t"/>
          <a:lstStyle/>
          <a:p>
            <a:pPr marL="0" indent="0" algn="l">
              <a:lnSpc>
                <a:spcPct val="113000"/>
              </a:lnSpc>
              <a:buNone/>
            </a:pPr>
            <a:r>
              <a:rPr lang="en-US" sz="1900" kern="100" spc="-47" dirty="0">
                <a:solidFill>
                  <a:srgbClr val="E6D9D8"/>
                </a:solidFill>
                <a:latin typeface="Montserrat Medium" pitchFamily="34" charset="0"/>
                <a:ea typeface="Montserrat Medium" pitchFamily="34" charset="-122"/>
                <a:cs typeface="Montserrat Medium" pitchFamily="34" charset="-120"/>
              </a:rPr>
              <a:t>Edge AI &amp; community mesh</a:t>
            </a:r>
            <a:endParaRPr lang="en-US" sz="1900" dirty="0"/>
          </a:p>
        </p:txBody>
      </p:sp>
      <p:sp>
        <p:nvSpPr>
          <p:cNvPr id="17" name="Text 15"/>
          <p:cNvSpPr/>
          <p:nvPr/>
        </p:nvSpPr>
        <p:spPr>
          <a:xfrm>
            <a:off x="982638" y="4955183"/>
            <a:ext cx="5722794" cy="257770"/>
          </a:xfrm>
          <a:prstGeom prst="rect">
            <a:avLst/>
          </a:prstGeom>
          <a:noFill/>
          <a:ln/>
        </p:spPr>
        <p:txBody>
          <a:bodyPr wrap="none" lIns="0" tIns="0" rIns="0" bIns="0" rtlCol="0" anchor="t"/>
          <a:lstStyle/>
          <a:p>
            <a:pPr marL="0" indent="0" algn="l">
              <a:lnSpc>
                <a:spcPct val="117000"/>
              </a:lnSpc>
              <a:buNone/>
            </a:pPr>
            <a:r>
              <a:rPr lang="en-US" sz="1450" dirty="0">
                <a:solidFill>
                  <a:srgbClr val="E6D9D8"/>
                </a:solidFill>
                <a:latin typeface="Heebo Light" pitchFamily="34" charset="0"/>
                <a:ea typeface="Heebo Light" pitchFamily="34" charset="-122"/>
                <a:cs typeface="Heebo Light" pitchFamily="34" charset="-120"/>
              </a:rPr>
              <a:t>On-device inference with privacy-preserving peer analytics.</a:t>
            </a:r>
            <a:endParaRPr lang="en-US" sz="1450" dirty="0"/>
          </a:p>
        </p:txBody>
      </p:sp>
      <p:sp>
        <p:nvSpPr>
          <p:cNvPr id="18" name="Text 16"/>
          <p:cNvSpPr/>
          <p:nvPr/>
        </p:nvSpPr>
        <p:spPr>
          <a:xfrm>
            <a:off x="609585" y="6210995"/>
            <a:ext cx="6705432" cy="189805"/>
          </a:xfrm>
          <a:prstGeom prst="rect">
            <a:avLst/>
          </a:prstGeom>
          <a:noFill/>
          <a:ln/>
        </p:spPr>
        <p:txBody>
          <a:bodyPr wrap="none" lIns="0" tIns="0" rIns="0" bIns="0" rtlCol="0" anchor="t"/>
          <a:lstStyle/>
          <a:p>
            <a:pPr marL="0" indent="0" algn="l">
              <a:lnSpc>
                <a:spcPct val="108000"/>
              </a:lnSpc>
              <a:buNone/>
            </a:pPr>
            <a:r>
              <a:rPr lang="en-US" sz="1150" b="1" kern="100" spc="17" dirty="0">
                <a:solidFill>
                  <a:srgbClr val="A89598"/>
                </a:solidFill>
                <a:latin typeface="Heebo Bold" pitchFamily="34" charset="0"/>
                <a:ea typeface="Heebo Bold" pitchFamily="34" charset="-122"/>
                <a:cs typeface="Heebo Bold" pitchFamily="34" charset="-120"/>
              </a:rPr>
              <a:t>Monitor · Understand · Control · Optimize · Verify</a:t>
            </a:r>
            <a:endParaRPr lang="en-US" sz="1150" dirty="0"/>
          </a:p>
        </p:txBody>
      </p:sp>
      <p:pic>
        <p:nvPicPr>
          <p:cNvPr id="19" name="Image 0" descr="preencoded.png"/>
          <p:cNvPicPr>
            <a:picLocks noChangeAspect="1"/>
          </p:cNvPicPr>
          <p:nvPr/>
        </p:nvPicPr>
        <p:blipFill>
          <a:blip r:embed="rId3"/>
          <a:stretch>
            <a:fillRect/>
          </a:stretch>
        </p:blipFill>
        <p:spPr>
          <a:xfrm>
            <a:off x="7315017" y="0"/>
            <a:ext cx="4876678"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TotalTime>
  <Words>1121</Words>
  <Application>Microsoft Office PowerPoint</Application>
  <PresentationFormat>Widescreen</PresentationFormat>
  <Paragraphs>135</Paragraphs>
  <Slides>10</Slides>
  <Notes>10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10</vt:i4>
      </vt:variant>
    </vt:vector>
  </HeadingPairs>
  <TitlesOfParts>
    <vt:vector size="21" baseType="lpstr">
      <vt:lpstr>Montserrat SemiBold</vt:lpstr>
      <vt:lpstr>Heebo</vt:lpstr>
      <vt:lpstr>Heebo SemiBold</vt:lpstr>
      <vt:lpstr>Aptos Display</vt:lpstr>
      <vt:lpstr>Heebo Bold</vt:lpstr>
      <vt:lpstr>Arial</vt:lpstr>
      <vt:lpstr>Heebo Medium</vt:lpstr>
      <vt:lpstr>Montserrat Medium</vt:lpstr>
      <vt:lpstr>Heebo Light</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SRINADH RAMANABOINA</dc:creator>
  <cp:lastModifiedBy>SRINADH RAMANABOINA</cp:lastModifiedBy>
  <cp:revision>2</cp:revision>
  <dcterms:created xsi:type="dcterms:W3CDTF">2026-10-03T16:21:56Z</dcterms:created>
  <dcterms:modified xsi:type="dcterms:W3CDTF">2026-10-03T16:33:45Z</dcterms:modified>
</cp:coreProperties>
</file>